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6858000" cx="12192000"/>
  <p:notesSz cx="6858000" cy="9144000"/>
  <p:embeddedFontLst>
    <p:embeddedFont>
      <p:font typeface="Spectral"/>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384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696901F-3CC9-40C9-923D-EA07E04F58D9}">
  <a:tblStyle styleId="{2696901F-3CC9-40C9-923D-EA07E04F58D9}"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BF5"/>
          </a:solidFill>
        </a:fill>
      </a:tcStyle>
    </a:wholeTbl>
    <a:band1H>
      <a:tcTxStyle/>
      <a:tcStyle>
        <a:fill>
          <a:solidFill>
            <a:srgbClr val="CDD4EA"/>
          </a:solidFill>
        </a:fill>
      </a:tcStyle>
    </a:band1H>
    <a:band2H>
      <a:tcTxStyle/>
    </a:band2H>
    <a:band1V>
      <a:tcTxStyle/>
      <a:tcStyle>
        <a:fill>
          <a:solidFill>
            <a:srgbClr val="CDD4EA"/>
          </a:solidFill>
        </a:fill>
      </a:tcStyle>
    </a:band1V>
    <a:band2V>
      <a:tcTxStyle/>
    </a:band2V>
    <a:lastCol>
      <a:tcTxStyle b="on" i="off">
        <a:font>
          <a:latin typeface="Calibri"/>
          <a:ea typeface="Calibri"/>
          <a:cs typeface="Calibri"/>
        </a:font>
        <a:srgbClr val="FFFFFF"/>
      </a:tcTxStyle>
      <a:tcStyle>
        <a:fill>
          <a:solidFill>
            <a:srgbClr val="4472C4"/>
          </a:solidFill>
        </a:fill>
      </a:tcStyle>
    </a:lastCol>
    <a:firstCol>
      <a:tcTxStyle b="on" i="off">
        <a:font>
          <a:latin typeface="Calibri"/>
          <a:ea typeface="Calibri"/>
          <a:cs typeface="Calibri"/>
        </a:font>
        <a:srgbClr val="FFFFFF"/>
      </a:tcTxStyle>
      <a:tcStyle>
        <a:fill>
          <a:solidFill>
            <a:srgbClr val="4472C4"/>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472C4"/>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472C4"/>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Spectral-regular.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Spectral-italic.fntdata"/><Relationship Id="rId14" Type="http://schemas.openxmlformats.org/officeDocument/2006/relationships/slide" Target="slides/slide8.xml"/><Relationship Id="rId36" Type="http://schemas.openxmlformats.org/officeDocument/2006/relationships/font" Target="fonts/Spectral-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Spectral-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7fdf2276cb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27fdf2276cb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27fdf2276cb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 name="Google Shape;98;g27fdf2276cb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5" name="Google Shape;10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2" name="Google Shape;11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fdc5f84ae7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2fdc5f84ae7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fdc5f84ae7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2fdc5f84ae7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fdc5f84ae7_0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g2fdc5f84ae7_0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fdc5f84ae7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2fdc5f84ae7_0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2ec3fe6d95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2ec3fe6d9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2ec3fe6d95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2ec3fe6d9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2ec3fe6d95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2ec3fe6d9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2ec3fe6d95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2ec3fe6d95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2ec3fe6d95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2ec3fe6d9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2cecf5781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2cecf5781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2cecf5781e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2cecf5781e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2cecf5781e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2cecf5781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41a56cca67_2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41a56cca67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41a56cca67_2_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41a56cca67_2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41a56cca67_2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41a56cca67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41a56cca67_2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41a56cca67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3584c874e4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3584c874e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341a56cca67_0_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341a56cca67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41a56cca67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41a56cca6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3584c874e4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3584c874e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3584c874e4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3584c874e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33584c874e4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9" name="Google Shape;279;g33584c874e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7fe7eff8b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27fe7eff8b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1" name="Shape 11"/>
        <p:cNvGrpSpPr/>
        <p:nvPr/>
      </p:nvGrpSpPr>
      <p:grpSpPr>
        <a:xfrm>
          <a:off x="0" y="0"/>
          <a:ext cx="0" cy="0"/>
          <a:chOff x="0" y="0"/>
          <a:chExt cx="0" cy="0"/>
        </a:xfrm>
      </p:grpSpPr>
      <p:sp>
        <p:nvSpPr>
          <p:cNvPr id="12" name="Google Shape;12;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4"/>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4" name="Google Shape;24;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6"/>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6.jpg"/><Relationship Id="rId5" Type="http://schemas.openxmlformats.org/officeDocument/2006/relationships/image" Target="../media/image25.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jp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jp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jp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6.jp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6.jp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6.jpg"/><Relationship Id="rId5"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6.jpg"/><Relationship Id="rId4" Type="http://schemas.openxmlformats.org/officeDocument/2006/relationships/image" Target="../media/image11.png"/><Relationship Id="rId5"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22.png"/><Relationship Id="rId5"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jp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jp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 Id="rId4" Type="http://schemas.openxmlformats.org/officeDocument/2006/relationships/image" Target="../media/image6.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6.jpg"/><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jpg"/><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6.jpg"/><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jp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jpg"/><Relationship Id="rId4" Type="http://schemas.openxmlformats.org/officeDocument/2006/relationships/image" Target="../media/image2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title"/>
          </p:nvPr>
        </p:nvSpPr>
        <p:spPr>
          <a:xfrm>
            <a:off x="1882498" y="400649"/>
            <a:ext cx="9773700" cy="1367400"/>
          </a:xfrm>
          <a:prstGeom prst="rect">
            <a:avLst/>
          </a:prstGeom>
          <a:noFill/>
          <a:ln>
            <a:noFill/>
          </a:ln>
        </p:spPr>
        <p:txBody>
          <a:bodyPr anchorCtr="0" anchor="ctr" bIns="0" lIns="0" spcFirstLastPara="1" rIns="0" wrap="square" tIns="12700">
            <a:spAutoFit/>
          </a:bodyPr>
          <a:lstStyle/>
          <a:p>
            <a:pPr indent="-692785" lvl="0" marL="704850" marR="5080" rtl="0" algn="ctr">
              <a:lnSpc>
                <a:spcPct val="100000"/>
              </a:lnSpc>
              <a:spcBef>
                <a:spcPts val="0"/>
              </a:spcBef>
              <a:spcAft>
                <a:spcPts val="0"/>
              </a:spcAft>
              <a:buClr>
                <a:schemeClr val="dk1"/>
              </a:buClr>
              <a:buSzPts val="2400"/>
              <a:buFont typeface="Times New Roman"/>
              <a:buNone/>
            </a:pPr>
            <a:r>
              <a:rPr b="1" lang="en-IN" sz="2400">
                <a:latin typeface="Times New Roman"/>
                <a:ea typeface="Times New Roman"/>
                <a:cs typeface="Times New Roman"/>
                <a:sym typeface="Times New Roman"/>
              </a:rPr>
              <a:t> </a:t>
            </a:r>
            <a:r>
              <a:rPr b="1" lang="en-IN" sz="2500">
                <a:latin typeface="Times New Roman"/>
                <a:ea typeface="Times New Roman"/>
                <a:cs typeface="Times New Roman"/>
                <a:sym typeface="Times New Roman"/>
              </a:rPr>
              <a:t>MALLA REDDY COLLEGE OF ENGINEERING &amp; TECHNOLOGY</a:t>
            </a:r>
            <a:endParaRPr b="1" sz="2400">
              <a:latin typeface="Times New Roman"/>
              <a:ea typeface="Times New Roman"/>
              <a:cs typeface="Times New Roman"/>
              <a:sym typeface="Times New Roman"/>
            </a:endParaRPr>
          </a:p>
          <a:p>
            <a:pPr indent="-692785" lvl="0" marL="704850" marR="5080" rtl="0" algn="ctr">
              <a:lnSpc>
                <a:spcPct val="100000"/>
              </a:lnSpc>
              <a:spcBef>
                <a:spcPts val="0"/>
              </a:spcBef>
              <a:spcAft>
                <a:spcPts val="0"/>
              </a:spcAft>
              <a:buClr>
                <a:schemeClr val="dk1"/>
              </a:buClr>
              <a:buSzPts val="2400"/>
              <a:buFont typeface="Times New Roman"/>
              <a:buNone/>
            </a:pPr>
            <a:r>
              <a:rPr lang="en-IN" sz="2000">
                <a:latin typeface="Times New Roman"/>
                <a:ea typeface="Times New Roman"/>
                <a:cs typeface="Times New Roman"/>
                <a:sym typeface="Times New Roman"/>
              </a:rPr>
              <a:t>(Autonomous Institution – UGC, Govt. of India)</a:t>
            </a:r>
            <a:endParaRPr sz="2000">
              <a:latin typeface="Times New Roman"/>
              <a:ea typeface="Times New Roman"/>
              <a:cs typeface="Times New Roman"/>
              <a:sym typeface="Times New Roman"/>
            </a:endParaRPr>
          </a:p>
          <a:p>
            <a:pPr indent="0" lvl="0" marL="0" marR="5080" rtl="0" algn="l">
              <a:lnSpc>
                <a:spcPct val="100000"/>
              </a:lnSpc>
              <a:spcBef>
                <a:spcPts val="0"/>
              </a:spcBef>
              <a:spcAft>
                <a:spcPts val="0"/>
              </a:spcAft>
              <a:buClr>
                <a:schemeClr val="dk1"/>
              </a:buClr>
              <a:buSzPts val="2400"/>
              <a:buFont typeface="Times New Roman"/>
              <a:buNone/>
            </a:pPr>
            <a:r>
              <a:t/>
            </a:r>
            <a:endParaRPr sz="2000">
              <a:latin typeface="Times New Roman"/>
              <a:ea typeface="Times New Roman"/>
              <a:cs typeface="Times New Roman"/>
              <a:sym typeface="Times New Roman"/>
            </a:endParaRPr>
          </a:p>
          <a:p>
            <a:pPr indent="-692785" lvl="0" marL="704850" marR="5080" rtl="0" algn="ctr">
              <a:lnSpc>
                <a:spcPct val="100000"/>
              </a:lnSpc>
              <a:spcBef>
                <a:spcPts val="0"/>
              </a:spcBef>
              <a:spcAft>
                <a:spcPts val="0"/>
              </a:spcAft>
              <a:buClr>
                <a:schemeClr val="dk1"/>
              </a:buClr>
              <a:buSzPts val="2400"/>
              <a:buFont typeface="Times New Roman"/>
              <a:buNone/>
            </a:pPr>
            <a:r>
              <a:rPr b="1" lang="en-IN" sz="2300" u="sng">
                <a:latin typeface="Times New Roman"/>
                <a:ea typeface="Times New Roman"/>
                <a:cs typeface="Times New Roman"/>
                <a:sym typeface="Times New Roman"/>
              </a:rPr>
              <a:t>DEPARTMENT OF COMPUTER SCIENCE AND ENGINEERING</a:t>
            </a:r>
            <a:endParaRPr sz="2300" u="sng">
              <a:latin typeface="Times New Roman"/>
              <a:ea typeface="Times New Roman"/>
              <a:cs typeface="Times New Roman"/>
              <a:sym typeface="Times New Roman"/>
            </a:endParaRPr>
          </a:p>
        </p:txBody>
      </p:sp>
      <p:sp>
        <p:nvSpPr>
          <p:cNvPr id="85" name="Google Shape;85;p13"/>
          <p:cNvSpPr txBox="1"/>
          <p:nvPr/>
        </p:nvSpPr>
        <p:spPr>
          <a:xfrm>
            <a:off x="1402775" y="2519275"/>
            <a:ext cx="9966900" cy="1509000"/>
          </a:xfrm>
          <a:prstGeom prst="rect">
            <a:avLst/>
          </a:prstGeom>
          <a:noFill/>
          <a:ln>
            <a:noFill/>
          </a:ln>
        </p:spPr>
        <p:txBody>
          <a:bodyPr anchorCtr="0" anchor="ctr" bIns="0" lIns="0" spcFirstLastPara="1" rIns="0" wrap="square" tIns="12700">
            <a:noAutofit/>
          </a:bodyPr>
          <a:lstStyle/>
          <a:p>
            <a:pPr indent="0" lvl="0" marL="0" marR="0" rtl="0" algn="l">
              <a:spcBef>
                <a:spcPts val="0"/>
              </a:spcBef>
              <a:spcAft>
                <a:spcPts val="0"/>
              </a:spcAft>
              <a:buClr>
                <a:schemeClr val="dk1"/>
              </a:buClr>
              <a:buSzPts val="1100"/>
              <a:buFont typeface="Arial"/>
              <a:buNone/>
            </a:pPr>
            <a:r>
              <a:rPr lang="en-IN" sz="6300">
                <a:solidFill>
                  <a:schemeClr val="dk1"/>
                </a:solidFill>
                <a:latin typeface="Times New Roman"/>
                <a:ea typeface="Times New Roman"/>
                <a:cs typeface="Times New Roman"/>
                <a:sym typeface="Times New Roman"/>
              </a:rPr>
              <a:t>Handwritten Text Recognition</a:t>
            </a:r>
            <a:endParaRPr sz="5600">
              <a:solidFill>
                <a:schemeClr val="dk1"/>
              </a:solidFill>
              <a:latin typeface="Times New Roman"/>
              <a:ea typeface="Times New Roman"/>
              <a:cs typeface="Times New Roman"/>
              <a:sym typeface="Times New Roman"/>
            </a:endParaRPr>
          </a:p>
        </p:txBody>
      </p:sp>
      <p:sp>
        <p:nvSpPr>
          <p:cNvPr id="86" name="Google Shape;86;p13"/>
          <p:cNvSpPr txBox="1"/>
          <p:nvPr/>
        </p:nvSpPr>
        <p:spPr>
          <a:xfrm>
            <a:off x="1263299" y="5238340"/>
            <a:ext cx="2361000" cy="952800"/>
          </a:xfrm>
          <a:prstGeom prst="rect">
            <a:avLst/>
          </a:prstGeom>
          <a:noFill/>
          <a:ln>
            <a:noFill/>
          </a:ln>
        </p:spPr>
        <p:txBody>
          <a:bodyPr anchorCtr="0" anchor="t" bIns="0" lIns="0" spcFirstLastPara="1" rIns="0" wrap="square" tIns="12700">
            <a:spAutoFit/>
          </a:bodyPr>
          <a:lstStyle/>
          <a:p>
            <a:pPr indent="0" lvl="0" marL="12700" marR="5080" rtl="0" algn="ctr">
              <a:lnSpc>
                <a:spcPct val="115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Under the Guidance of</a:t>
            </a:r>
            <a:endParaRPr b="1" i="0" sz="1800" u="none" cap="none" strike="noStrike">
              <a:solidFill>
                <a:schemeClr val="dk1"/>
              </a:solidFill>
              <a:latin typeface="Times New Roman"/>
              <a:ea typeface="Times New Roman"/>
              <a:cs typeface="Times New Roman"/>
              <a:sym typeface="Times New Roman"/>
            </a:endParaRPr>
          </a:p>
          <a:p>
            <a:pPr indent="0" lvl="0" marL="12700" marR="5080" rtl="0" algn="ctr">
              <a:lnSpc>
                <a:spcPct val="115000"/>
              </a:lnSpc>
              <a:spcBef>
                <a:spcPts val="100"/>
              </a:spcBef>
              <a:spcAft>
                <a:spcPts val="0"/>
              </a:spcAft>
              <a:buClr>
                <a:srgbClr val="000000"/>
              </a:buClr>
              <a:buSzPts val="1800"/>
              <a:buFont typeface="Arial"/>
              <a:buNone/>
            </a:pPr>
            <a:r>
              <a:rPr b="1" lang="en-IN" sz="1800">
                <a:solidFill>
                  <a:schemeClr val="dk1"/>
                </a:solidFill>
                <a:latin typeface="Times New Roman"/>
                <a:ea typeface="Times New Roman"/>
                <a:cs typeface="Times New Roman"/>
                <a:sym typeface="Times New Roman"/>
              </a:rPr>
              <a:t>Ms. D. Sai Eswari</a:t>
            </a:r>
            <a:endParaRPr b="1" sz="1800">
              <a:solidFill>
                <a:schemeClr val="dk1"/>
              </a:solidFill>
              <a:latin typeface="Times New Roman"/>
              <a:ea typeface="Times New Roman"/>
              <a:cs typeface="Times New Roman"/>
              <a:sym typeface="Times New Roman"/>
            </a:endParaRPr>
          </a:p>
          <a:p>
            <a:pPr indent="0" lvl="0" marL="12700" marR="5080" rtl="0" algn="ctr">
              <a:lnSpc>
                <a:spcPct val="115000"/>
              </a:lnSpc>
              <a:spcBef>
                <a:spcPts val="100"/>
              </a:spcBef>
              <a:spcAft>
                <a:spcPts val="0"/>
              </a:spcAft>
              <a:buClr>
                <a:srgbClr val="000000"/>
              </a:buClr>
              <a:buSzPts val="1800"/>
              <a:buFont typeface="Arial"/>
              <a:buNone/>
            </a:pPr>
            <a:r>
              <a:rPr b="1" lang="en-IN" sz="1800">
                <a:solidFill>
                  <a:schemeClr val="dk1"/>
                </a:solidFill>
                <a:latin typeface="Times New Roman"/>
                <a:ea typeface="Times New Roman"/>
                <a:cs typeface="Times New Roman"/>
                <a:sym typeface="Times New Roman"/>
              </a:rPr>
              <a:t>Asst. Professor</a:t>
            </a:r>
            <a:endParaRPr b="1" sz="1800">
              <a:solidFill>
                <a:schemeClr val="dk1"/>
              </a:solidFill>
              <a:latin typeface="Times New Roman"/>
              <a:ea typeface="Times New Roman"/>
              <a:cs typeface="Times New Roman"/>
              <a:sym typeface="Times New Roman"/>
            </a:endParaRPr>
          </a:p>
        </p:txBody>
      </p:sp>
      <p:sp>
        <p:nvSpPr>
          <p:cNvPr id="87" name="Google Shape;87;p13"/>
          <p:cNvSpPr txBox="1"/>
          <p:nvPr/>
        </p:nvSpPr>
        <p:spPr>
          <a:xfrm>
            <a:off x="7126700" y="5035550"/>
            <a:ext cx="4242900" cy="12366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Batch No : 21</a:t>
            </a:r>
            <a:endParaRPr i="0" sz="14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Clr>
                <a:srgbClr val="000000"/>
              </a:buClr>
              <a:buSzPts val="500"/>
              <a:buFont typeface="Arial"/>
              <a:buNone/>
            </a:pPr>
            <a:r>
              <a:t/>
            </a:r>
            <a:endParaRPr i="0" sz="500" u="none" cap="none" strike="noStrike">
              <a:solidFill>
                <a:srgbClr val="000000"/>
              </a:solidFill>
              <a:latin typeface="Times New Roman"/>
              <a:ea typeface="Times New Roman"/>
              <a:cs typeface="Times New Roman"/>
              <a:sym typeface="Times New Roman"/>
            </a:endParaRPr>
          </a:p>
          <a:p>
            <a:pPr indent="0" lvl="0" marL="12700" marR="0" rtl="0" algn="l">
              <a:lnSpc>
                <a:spcPct val="100000"/>
              </a:lnSpc>
              <a:spcBef>
                <a:spcPts val="10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M Hrusheekendar Reddy 	 22N31A05D6</a:t>
            </a:r>
            <a:endParaRPr b="1" i="0" sz="18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10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R Manoj kumar			 22N31A05K5</a:t>
            </a:r>
            <a:endParaRPr b="1" i="0" sz="1800" u="none" cap="none" strike="noStrike">
              <a:solidFill>
                <a:schemeClr val="dk1"/>
              </a:solidFill>
              <a:latin typeface="Times New Roman"/>
              <a:ea typeface="Times New Roman"/>
              <a:cs typeface="Times New Roman"/>
              <a:sym typeface="Times New Roman"/>
            </a:endParaRPr>
          </a:p>
          <a:p>
            <a:pPr indent="0" lvl="0" marL="12700" marR="0" rtl="0" algn="l">
              <a:lnSpc>
                <a:spcPct val="100000"/>
              </a:lnSpc>
              <a:spcBef>
                <a:spcPts val="100"/>
              </a:spcBef>
              <a:spcAft>
                <a:spcPts val="0"/>
              </a:spcAft>
              <a:buClr>
                <a:srgbClr val="000000"/>
              </a:buClr>
              <a:buSzPts val="1800"/>
              <a:buFont typeface="Arial"/>
              <a:buNone/>
            </a:pPr>
            <a:r>
              <a:rPr b="1" i="0" lang="en-IN" sz="1800" u="none" cap="none" strike="noStrike">
                <a:solidFill>
                  <a:schemeClr val="dk1"/>
                </a:solidFill>
                <a:latin typeface="Times New Roman"/>
                <a:ea typeface="Times New Roman"/>
                <a:cs typeface="Times New Roman"/>
                <a:sym typeface="Times New Roman"/>
              </a:rPr>
              <a:t>K Shashank				 23N35A0516 </a:t>
            </a:r>
            <a:endParaRPr b="1" i="0" sz="1800" u="none" cap="none" strike="noStrike">
              <a:solidFill>
                <a:schemeClr val="dk1"/>
              </a:solidFill>
              <a:latin typeface="Times New Roman"/>
              <a:ea typeface="Times New Roman"/>
              <a:cs typeface="Times New Roman"/>
              <a:sym typeface="Times New Roman"/>
            </a:endParaRPr>
          </a:p>
        </p:txBody>
      </p:sp>
      <p:pic>
        <p:nvPicPr>
          <p:cNvPr id="88" name="Google Shape;88;p13"/>
          <p:cNvPicPr preferRelativeResize="0"/>
          <p:nvPr/>
        </p:nvPicPr>
        <p:blipFill rotWithShape="1">
          <a:blip r:embed="rId3">
            <a:alphaModFix/>
          </a:blip>
          <a:srcRect b="0" l="0" r="0" t="0"/>
          <a:stretch/>
        </p:blipFill>
        <p:spPr>
          <a:xfrm>
            <a:off x="535800" y="455975"/>
            <a:ext cx="1346700" cy="12567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nvSpPr>
        <p:spPr>
          <a:xfrm>
            <a:off x="1872150" y="355275"/>
            <a:ext cx="8749800" cy="1325700"/>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rgbClr val="000000"/>
              </a:buClr>
              <a:buSzPts val="4400"/>
              <a:buFont typeface="Arial"/>
              <a:buNone/>
            </a:pPr>
            <a:r>
              <a:rPr b="0" i="0" lang="en-IN" sz="5000" u="none" cap="none" strike="noStrike">
                <a:solidFill>
                  <a:srgbClr val="000000"/>
                </a:solidFill>
                <a:latin typeface="Times New Roman"/>
                <a:ea typeface="Times New Roman"/>
                <a:cs typeface="Times New Roman"/>
                <a:sym typeface="Times New Roman"/>
              </a:rPr>
              <a:t>AGENDA</a:t>
            </a:r>
            <a:endParaRPr b="0" i="0" sz="5000" u="none" cap="none" strike="noStrike">
              <a:solidFill>
                <a:srgbClr val="000000"/>
              </a:solidFill>
              <a:latin typeface="Times New Roman"/>
              <a:ea typeface="Times New Roman"/>
              <a:cs typeface="Times New Roman"/>
              <a:sym typeface="Times New Roman"/>
            </a:endParaRPr>
          </a:p>
        </p:txBody>
      </p:sp>
      <p:pic>
        <p:nvPicPr>
          <p:cNvPr id="94" name="Google Shape;94;p14"/>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95" name="Google Shape;95;p14"/>
          <p:cNvSpPr txBox="1"/>
          <p:nvPr/>
        </p:nvSpPr>
        <p:spPr>
          <a:xfrm>
            <a:off x="1022200" y="1742375"/>
            <a:ext cx="6291600" cy="4565100"/>
          </a:xfrm>
          <a:prstGeom prst="rect">
            <a:avLst/>
          </a:prstGeom>
          <a:noFill/>
          <a:ln>
            <a:noFill/>
          </a:ln>
        </p:spPr>
        <p:txBody>
          <a:bodyPr anchorCtr="0" anchor="ctr" bIns="45700" lIns="91425" spcFirstLastPara="1" rIns="91425" wrap="square" tIns="45700">
            <a:noAutofit/>
          </a:bodyPr>
          <a:lstStyle/>
          <a:p>
            <a:pPr indent="-355600" lvl="0" marL="457200" rtl="0" algn="l">
              <a:lnSpc>
                <a:spcPct val="115000"/>
              </a:lnSpc>
              <a:spcBef>
                <a:spcPts val="0"/>
              </a:spcBef>
              <a:spcAft>
                <a:spcPts val="0"/>
              </a:spcAft>
              <a:buSzPts val="2000"/>
              <a:buChar char="❖"/>
            </a:pPr>
            <a:r>
              <a:rPr lang="en-IN" sz="2000"/>
              <a:t>Abstract</a:t>
            </a:r>
            <a:endParaRPr sz="2000"/>
          </a:p>
          <a:p>
            <a:pPr indent="-355600" lvl="0" marL="457200" rtl="0" algn="l">
              <a:lnSpc>
                <a:spcPct val="115000"/>
              </a:lnSpc>
              <a:spcBef>
                <a:spcPts val="0"/>
              </a:spcBef>
              <a:spcAft>
                <a:spcPts val="0"/>
              </a:spcAft>
              <a:buSzPts val="2000"/>
              <a:buChar char="❖"/>
            </a:pPr>
            <a:r>
              <a:rPr lang="en-IN" sz="2000"/>
              <a:t>Introduction</a:t>
            </a:r>
            <a:endParaRPr sz="2000"/>
          </a:p>
          <a:p>
            <a:pPr indent="-355600" lvl="0" marL="457200" rtl="0" algn="l">
              <a:lnSpc>
                <a:spcPct val="115000"/>
              </a:lnSpc>
              <a:spcBef>
                <a:spcPts val="0"/>
              </a:spcBef>
              <a:spcAft>
                <a:spcPts val="0"/>
              </a:spcAft>
              <a:buSzPts val="2000"/>
              <a:buChar char="❖"/>
            </a:pPr>
            <a:r>
              <a:rPr lang="en-IN" sz="2000"/>
              <a:t>Existing system</a:t>
            </a:r>
            <a:endParaRPr sz="2000"/>
          </a:p>
          <a:p>
            <a:pPr indent="-355600" lvl="0" marL="457200" rtl="0" algn="l">
              <a:lnSpc>
                <a:spcPct val="115000"/>
              </a:lnSpc>
              <a:spcBef>
                <a:spcPts val="0"/>
              </a:spcBef>
              <a:spcAft>
                <a:spcPts val="0"/>
              </a:spcAft>
              <a:buSzPts val="2000"/>
              <a:buChar char="❖"/>
            </a:pPr>
            <a:r>
              <a:rPr lang="en-IN" sz="2000"/>
              <a:t>Proposed system</a:t>
            </a:r>
            <a:endParaRPr sz="2000"/>
          </a:p>
          <a:p>
            <a:pPr indent="-355600" lvl="0" marL="457200" rtl="0" algn="l">
              <a:lnSpc>
                <a:spcPct val="115000"/>
              </a:lnSpc>
              <a:spcBef>
                <a:spcPts val="0"/>
              </a:spcBef>
              <a:spcAft>
                <a:spcPts val="0"/>
              </a:spcAft>
              <a:buSzPts val="2000"/>
              <a:buChar char="❖"/>
            </a:pPr>
            <a:r>
              <a:rPr lang="en-IN" sz="2000"/>
              <a:t>Software &amp; Hardware Requirements</a:t>
            </a:r>
            <a:endParaRPr sz="2000"/>
          </a:p>
          <a:p>
            <a:pPr indent="-355600" lvl="0" marL="457200" rtl="0" algn="l">
              <a:lnSpc>
                <a:spcPct val="115000"/>
              </a:lnSpc>
              <a:spcBef>
                <a:spcPts val="0"/>
              </a:spcBef>
              <a:spcAft>
                <a:spcPts val="0"/>
              </a:spcAft>
              <a:buSzPts val="2000"/>
              <a:buChar char="❖"/>
            </a:pPr>
            <a:r>
              <a:rPr lang="en-IN" sz="2000"/>
              <a:t>Literature survey</a:t>
            </a:r>
            <a:endParaRPr sz="2000"/>
          </a:p>
          <a:p>
            <a:pPr indent="-355600" lvl="0" marL="457200" rtl="0" algn="l">
              <a:lnSpc>
                <a:spcPct val="115000"/>
              </a:lnSpc>
              <a:spcBef>
                <a:spcPts val="0"/>
              </a:spcBef>
              <a:spcAft>
                <a:spcPts val="0"/>
              </a:spcAft>
              <a:buSzPts val="2000"/>
              <a:buChar char="❖"/>
            </a:pPr>
            <a:r>
              <a:rPr lang="en-IN" sz="2000"/>
              <a:t>System architecture</a:t>
            </a:r>
            <a:endParaRPr sz="2000"/>
          </a:p>
          <a:p>
            <a:pPr indent="-355600" lvl="0" marL="457200" rtl="0" algn="l">
              <a:lnSpc>
                <a:spcPct val="115000"/>
              </a:lnSpc>
              <a:spcBef>
                <a:spcPts val="0"/>
              </a:spcBef>
              <a:spcAft>
                <a:spcPts val="0"/>
              </a:spcAft>
              <a:buSzPts val="2000"/>
              <a:buChar char="❖"/>
            </a:pPr>
            <a:r>
              <a:rPr lang="en-IN" sz="2000"/>
              <a:t>UML Diagrams</a:t>
            </a:r>
            <a:endParaRPr sz="2000"/>
          </a:p>
          <a:p>
            <a:pPr indent="-355600" lvl="0" marL="457200" rtl="0" algn="l">
              <a:lnSpc>
                <a:spcPct val="115000"/>
              </a:lnSpc>
              <a:spcBef>
                <a:spcPts val="0"/>
              </a:spcBef>
              <a:spcAft>
                <a:spcPts val="0"/>
              </a:spcAft>
              <a:buSzPts val="2000"/>
              <a:buChar char="❖"/>
            </a:pPr>
            <a:r>
              <a:rPr lang="en-IN" sz="2000"/>
              <a:t>Algorithms and technologies</a:t>
            </a:r>
            <a:endParaRPr sz="2000"/>
          </a:p>
          <a:p>
            <a:pPr indent="-355600" lvl="0" marL="457200" rtl="0" algn="l">
              <a:lnSpc>
                <a:spcPct val="115000"/>
              </a:lnSpc>
              <a:spcBef>
                <a:spcPts val="0"/>
              </a:spcBef>
              <a:spcAft>
                <a:spcPts val="0"/>
              </a:spcAft>
              <a:buSzPts val="2000"/>
              <a:buChar char="❖"/>
            </a:pPr>
            <a:r>
              <a:rPr lang="en-IN" sz="2000"/>
              <a:t>Output screens/ Results</a:t>
            </a:r>
            <a:endParaRPr sz="2000"/>
          </a:p>
          <a:p>
            <a:pPr indent="-355600" lvl="0" marL="457200" rtl="0" algn="l">
              <a:lnSpc>
                <a:spcPct val="115000"/>
              </a:lnSpc>
              <a:spcBef>
                <a:spcPts val="0"/>
              </a:spcBef>
              <a:spcAft>
                <a:spcPts val="0"/>
              </a:spcAft>
              <a:buSzPts val="2000"/>
              <a:buChar char="❖"/>
            </a:pPr>
            <a:r>
              <a:rPr lang="en-IN" sz="2000"/>
              <a:t>Conclusion</a:t>
            </a:r>
            <a:endParaRPr sz="2000"/>
          </a:p>
          <a:p>
            <a:pPr indent="-355600" lvl="0" marL="457200" rtl="0" algn="l">
              <a:lnSpc>
                <a:spcPct val="115000"/>
              </a:lnSpc>
              <a:spcBef>
                <a:spcPts val="0"/>
              </a:spcBef>
              <a:spcAft>
                <a:spcPts val="0"/>
              </a:spcAft>
              <a:buSzPts val="2000"/>
              <a:buChar char="❖"/>
            </a:pPr>
            <a:r>
              <a:rPr lang="en-IN" sz="2000"/>
              <a:t>Future scope</a:t>
            </a:r>
            <a:endParaRPr sz="2140">
              <a:solidFill>
                <a:srgbClr val="00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pic>
        <p:nvPicPr>
          <p:cNvPr id="100" name="Google Shape;100;p15"/>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101" name="Google Shape;101;p15"/>
          <p:cNvSpPr txBox="1"/>
          <p:nvPr>
            <p:ph type="title"/>
          </p:nvPr>
        </p:nvSpPr>
        <p:spPr>
          <a:xfrm>
            <a:off x="838200" y="365125"/>
            <a:ext cx="10515600" cy="11424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22222"/>
              </a:buClr>
              <a:buSzPts val="4400"/>
              <a:buFont typeface="Arial"/>
              <a:buNone/>
            </a:pPr>
            <a:r>
              <a:rPr lang="en-IN">
                <a:solidFill>
                  <a:srgbClr val="222222"/>
                </a:solidFill>
                <a:latin typeface="Times New Roman"/>
                <a:ea typeface="Times New Roman"/>
                <a:cs typeface="Times New Roman"/>
                <a:sym typeface="Times New Roman"/>
              </a:rPr>
              <a:t>Abstract</a:t>
            </a:r>
            <a:endParaRPr>
              <a:latin typeface="Times New Roman"/>
              <a:ea typeface="Times New Roman"/>
              <a:cs typeface="Times New Roman"/>
              <a:sym typeface="Times New Roman"/>
            </a:endParaRPr>
          </a:p>
        </p:txBody>
      </p:sp>
      <p:sp>
        <p:nvSpPr>
          <p:cNvPr id="102" name="Google Shape;102;p15"/>
          <p:cNvSpPr txBox="1"/>
          <p:nvPr>
            <p:ph idx="1" type="body"/>
          </p:nvPr>
        </p:nvSpPr>
        <p:spPr>
          <a:xfrm>
            <a:off x="1323000" y="1813025"/>
            <a:ext cx="9895500" cy="4344000"/>
          </a:xfrm>
          <a:prstGeom prst="rect">
            <a:avLst/>
          </a:prstGeom>
          <a:noFill/>
          <a:ln>
            <a:noFill/>
          </a:ln>
        </p:spPr>
        <p:txBody>
          <a:bodyPr anchorCtr="0" anchor="t" bIns="45700" lIns="91425" spcFirstLastPara="1" rIns="91425" wrap="square" tIns="45700">
            <a:normAutofit lnSpcReduction="20000"/>
          </a:bodyPr>
          <a:lstStyle/>
          <a:p>
            <a:pPr indent="0" lvl="0" marL="0" rtl="0" algn="just">
              <a:lnSpc>
                <a:spcPct val="115000"/>
              </a:lnSpc>
              <a:spcBef>
                <a:spcPts val="1200"/>
              </a:spcBef>
              <a:spcAft>
                <a:spcPts val="0"/>
              </a:spcAft>
              <a:buClr>
                <a:schemeClr val="dk1"/>
              </a:buClr>
              <a:buSzPts val="1100"/>
              <a:buFont typeface="Arial"/>
              <a:buNone/>
            </a:pPr>
            <a:r>
              <a:rPr lang="en-IN" sz="2500">
                <a:latin typeface="Spectral"/>
                <a:ea typeface="Spectral"/>
                <a:cs typeface="Spectral"/>
                <a:sym typeface="Spectral"/>
              </a:rPr>
              <a:t>Handwritten Text Recognition (HTR) converts handwritten text into machine-readable form using machine learning techniques. This project focuses on building an accurate and efficient HTR system to address challenges like varying handwriting styles.</a:t>
            </a:r>
            <a:endParaRPr sz="2500">
              <a:latin typeface="Spectral"/>
              <a:ea typeface="Spectral"/>
              <a:cs typeface="Spectral"/>
              <a:sym typeface="Spectral"/>
            </a:endParaRPr>
          </a:p>
          <a:p>
            <a:pPr indent="0" lvl="0" marL="0" rtl="0" algn="just">
              <a:lnSpc>
                <a:spcPct val="115000"/>
              </a:lnSpc>
              <a:spcBef>
                <a:spcPts val="1200"/>
              </a:spcBef>
              <a:spcAft>
                <a:spcPts val="0"/>
              </a:spcAft>
              <a:buClr>
                <a:schemeClr val="dk1"/>
              </a:buClr>
              <a:buSzPts val="1100"/>
              <a:buFont typeface="Arial"/>
              <a:buNone/>
            </a:pPr>
            <a:r>
              <a:rPr lang="en-IN" sz="2500">
                <a:latin typeface="Spectral"/>
                <a:ea typeface="Spectral"/>
                <a:cs typeface="Spectral"/>
                <a:sym typeface="Spectral"/>
              </a:rPr>
              <a:t>With applications in education, data digitization, and automation, our system aims to improve recognition accuracy using OCR and supervised learning. This presentation outlines the objectives, existing methods, proposed solutions, and technical requirements for developing the HTR system.</a:t>
            </a:r>
            <a:endParaRPr sz="2500">
              <a:latin typeface="Spectral"/>
              <a:ea typeface="Spectral"/>
              <a:cs typeface="Spectral"/>
              <a:sym typeface="Spectral"/>
            </a:endParaRPr>
          </a:p>
          <a:p>
            <a:pPr indent="0" lvl="0" marL="457200" rtl="0" algn="just">
              <a:lnSpc>
                <a:spcPct val="115000"/>
              </a:lnSpc>
              <a:spcBef>
                <a:spcPts val="1200"/>
              </a:spcBef>
              <a:spcAft>
                <a:spcPts val="0"/>
              </a:spcAft>
              <a:buSzPts val="1800"/>
              <a:buNone/>
            </a:pPr>
            <a:r>
              <a:t/>
            </a:r>
            <a:endParaRPr sz="2500">
              <a:latin typeface="Spectral"/>
              <a:ea typeface="Spectral"/>
              <a:cs typeface="Spectral"/>
              <a:sym typeface="Spectr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16"/>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108" name="Google Shape;108;p16"/>
          <p:cNvSpPr txBox="1"/>
          <p:nvPr>
            <p:ph type="title"/>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22222"/>
              </a:buClr>
              <a:buSzPts val="4400"/>
              <a:buFont typeface="Arial"/>
              <a:buNone/>
            </a:pPr>
            <a:r>
              <a:rPr lang="en-IN">
                <a:latin typeface="Times New Roman"/>
                <a:ea typeface="Times New Roman"/>
                <a:cs typeface="Times New Roman"/>
                <a:sym typeface="Times New Roman"/>
              </a:rPr>
              <a:t>Introduction</a:t>
            </a:r>
            <a:endParaRPr>
              <a:latin typeface="Times New Roman"/>
              <a:ea typeface="Times New Roman"/>
              <a:cs typeface="Times New Roman"/>
              <a:sym typeface="Times New Roman"/>
            </a:endParaRPr>
          </a:p>
        </p:txBody>
      </p:sp>
      <p:sp>
        <p:nvSpPr>
          <p:cNvPr id="109" name="Google Shape;109;p16"/>
          <p:cNvSpPr txBox="1"/>
          <p:nvPr>
            <p:ph idx="1" type="body"/>
          </p:nvPr>
        </p:nvSpPr>
        <p:spPr>
          <a:xfrm>
            <a:off x="1161000" y="1813025"/>
            <a:ext cx="10233000" cy="4344000"/>
          </a:xfrm>
          <a:prstGeom prst="rect">
            <a:avLst/>
          </a:prstGeom>
          <a:noFill/>
          <a:ln>
            <a:noFill/>
          </a:ln>
        </p:spPr>
        <p:txBody>
          <a:bodyPr anchorCtr="0" anchor="t" bIns="45700" lIns="91425" spcFirstLastPara="1" rIns="91425" wrap="square" tIns="45700">
            <a:noAutofit/>
          </a:bodyPr>
          <a:lstStyle/>
          <a:p>
            <a:pPr indent="0" lvl="0" marL="0" rtl="0" algn="just">
              <a:lnSpc>
                <a:spcPct val="95000"/>
              </a:lnSpc>
              <a:spcBef>
                <a:spcPts val="1200"/>
              </a:spcBef>
              <a:spcAft>
                <a:spcPts val="0"/>
              </a:spcAft>
              <a:buClr>
                <a:schemeClr val="dk1"/>
              </a:buClr>
              <a:buSzPts val="935"/>
              <a:buFont typeface="Arial"/>
              <a:buNone/>
            </a:pPr>
            <a:r>
              <a:rPr lang="en-IN" sz="2525">
                <a:latin typeface="Spectral"/>
                <a:ea typeface="Spectral"/>
                <a:cs typeface="Spectral"/>
                <a:sym typeface="Spectral"/>
              </a:rPr>
              <a:t>Handwritten Text Recognition (HTR) bridges the gap between handwritten documents and digital text. It involves identifying and converting handwritten text into a machine-readable format using advanced machine learning algorithms.</a:t>
            </a:r>
            <a:endParaRPr sz="2525">
              <a:latin typeface="Spectral"/>
              <a:ea typeface="Spectral"/>
              <a:cs typeface="Spectral"/>
              <a:sym typeface="Spectral"/>
            </a:endParaRPr>
          </a:p>
          <a:p>
            <a:pPr indent="0" lvl="0" marL="0" rtl="0" algn="just">
              <a:lnSpc>
                <a:spcPct val="95000"/>
              </a:lnSpc>
              <a:spcBef>
                <a:spcPts val="1200"/>
              </a:spcBef>
              <a:spcAft>
                <a:spcPts val="0"/>
              </a:spcAft>
              <a:buClr>
                <a:schemeClr val="dk1"/>
              </a:buClr>
              <a:buSzPts val="935"/>
              <a:buFont typeface="Arial"/>
              <a:buNone/>
            </a:pPr>
            <a:r>
              <a:rPr lang="en-IN" sz="2525">
                <a:latin typeface="Spectral"/>
                <a:ea typeface="Spectral"/>
                <a:cs typeface="Spectral"/>
                <a:sym typeface="Spectral"/>
              </a:rPr>
              <a:t>The need for HTR has grown with the increasing demand for digitizing handwritten records in fields such as education, healthcare, historical document preservation, and data entry automation.</a:t>
            </a:r>
            <a:endParaRPr sz="2525">
              <a:latin typeface="Spectral"/>
              <a:ea typeface="Spectral"/>
              <a:cs typeface="Spectral"/>
              <a:sym typeface="Spectral"/>
            </a:endParaRPr>
          </a:p>
          <a:p>
            <a:pPr indent="0" lvl="0" marL="0" rtl="0" algn="just">
              <a:lnSpc>
                <a:spcPct val="95000"/>
              </a:lnSpc>
              <a:spcBef>
                <a:spcPts val="1200"/>
              </a:spcBef>
              <a:spcAft>
                <a:spcPts val="1200"/>
              </a:spcAft>
              <a:buSzPts val="935"/>
              <a:buNone/>
            </a:pPr>
            <a:r>
              <a:rPr lang="en-IN" sz="2525">
                <a:latin typeface="Spectral"/>
                <a:ea typeface="Spectral"/>
                <a:cs typeface="Spectral"/>
                <a:sym typeface="Spectral"/>
              </a:rPr>
              <a:t>This project focuses on addressing challenges like varying handwriting styles, noise, and overlapping characters to create a robust and reliable HTR system.</a:t>
            </a:r>
            <a:endParaRPr sz="2525">
              <a:latin typeface="Spectral"/>
              <a:ea typeface="Spectral"/>
              <a:cs typeface="Spectral"/>
              <a:sym typeface="Spectr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1645525" y="315875"/>
            <a:ext cx="92307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22222"/>
              </a:buClr>
              <a:buSzPts val="4400"/>
              <a:buFont typeface="Arial"/>
              <a:buNone/>
            </a:pPr>
            <a:r>
              <a:rPr lang="en-IN">
                <a:latin typeface="Times New Roman"/>
                <a:ea typeface="Times New Roman"/>
                <a:cs typeface="Times New Roman"/>
                <a:sym typeface="Times New Roman"/>
              </a:rPr>
              <a:t>Existing System</a:t>
            </a:r>
            <a:endParaRPr>
              <a:latin typeface="Times New Roman"/>
              <a:ea typeface="Times New Roman"/>
              <a:cs typeface="Times New Roman"/>
              <a:sym typeface="Times New Roman"/>
            </a:endParaRPr>
          </a:p>
        </p:txBody>
      </p:sp>
      <p:pic>
        <p:nvPicPr>
          <p:cNvPr id="115" name="Google Shape;115;p17"/>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116" name="Google Shape;116;p17"/>
          <p:cNvSpPr txBox="1"/>
          <p:nvPr/>
        </p:nvSpPr>
        <p:spPr>
          <a:xfrm>
            <a:off x="1134000" y="1917000"/>
            <a:ext cx="10044000" cy="4185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0"/>
              </a:spcAft>
              <a:buNone/>
            </a:pPr>
            <a:r>
              <a:rPr lang="en-IN" sz="2200">
                <a:solidFill>
                  <a:schemeClr val="dk1"/>
                </a:solidFill>
                <a:latin typeface="Spectral"/>
                <a:ea typeface="Spectral"/>
                <a:cs typeface="Spectral"/>
                <a:sym typeface="Spectral"/>
              </a:rPr>
              <a:t>The current handwritten text recognition systems predominantly rely on </a:t>
            </a:r>
            <a:r>
              <a:rPr b="1" lang="en-IN" sz="2200">
                <a:solidFill>
                  <a:schemeClr val="dk1"/>
                </a:solidFill>
                <a:latin typeface="Spectral"/>
                <a:ea typeface="Spectral"/>
                <a:cs typeface="Spectral"/>
                <a:sym typeface="Spectral"/>
              </a:rPr>
              <a:t>traditional Optical Character Recognition (OCR)</a:t>
            </a:r>
            <a:r>
              <a:rPr lang="en-IN" sz="2200">
                <a:solidFill>
                  <a:schemeClr val="dk1"/>
                </a:solidFill>
                <a:latin typeface="Spectral"/>
                <a:ea typeface="Spectral"/>
                <a:cs typeface="Spectral"/>
                <a:sym typeface="Spectral"/>
              </a:rPr>
              <a:t> techniques. While OCR works well for printed text, it struggles with handwritten inputs due to :</a:t>
            </a:r>
            <a:endParaRPr sz="2200">
              <a:solidFill>
                <a:schemeClr val="dk1"/>
              </a:solidFill>
              <a:latin typeface="Spectral"/>
              <a:ea typeface="Spectral"/>
              <a:cs typeface="Spectral"/>
              <a:sym typeface="Spectral"/>
            </a:endParaRPr>
          </a:p>
          <a:p>
            <a:pPr indent="-368300" lvl="0" marL="457200" rtl="0" algn="l">
              <a:lnSpc>
                <a:spcPct val="115000"/>
              </a:lnSpc>
              <a:spcBef>
                <a:spcPts val="1200"/>
              </a:spcBef>
              <a:spcAft>
                <a:spcPts val="0"/>
              </a:spcAft>
              <a:buClr>
                <a:schemeClr val="dk1"/>
              </a:buClr>
              <a:buSzPts val="2200"/>
              <a:buFont typeface="Spectral"/>
              <a:buChar char="●"/>
            </a:pPr>
            <a:r>
              <a:rPr b="1" lang="en-IN" sz="2200">
                <a:solidFill>
                  <a:schemeClr val="dk1"/>
                </a:solidFill>
                <a:latin typeface="Spectral"/>
                <a:ea typeface="Spectral"/>
                <a:cs typeface="Spectral"/>
                <a:sym typeface="Spectral"/>
              </a:rPr>
              <a:t>High variability in handwriting styles and sizes</a:t>
            </a:r>
            <a:endParaRPr b="1" sz="2200">
              <a:solidFill>
                <a:schemeClr val="dk1"/>
              </a:solidFill>
              <a:latin typeface="Spectral"/>
              <a:ea typeface="Spectral"/>
              <a:cs typeface="Spectral"/>
              <a:sym typeface="Spectral"/>
            </a:endParaRPr>
          </a:p>
          <a:p>
            <a:pPr indent="-368300" lvl="0" marL="457200" rtl="0" algn="l">
              <a:lnSpc>
                <a:spcPct val="115000"/>
              </a:lnSpc>
              <a:spcBef>
                <a:spcPts val="0"/>
              </a:spcBef>
              <a:spcAft>
                <a:spcPts val="0"/>
              </a:spcAft>
              <a:buClr>
                <a:schemeClr val="dk1"/>
              </a:buClr>
              <a:buSzPts val="2200"/>
              <a:buFont typeface="Spectral"/>
              <a:buChar char="●"/>
            </a:pPr>
            <a:r>
              <a:rPr b="1" lang="en-IN" sz="2200">
                <a:solidFill>
                  <a:schemeClr val="dk1"/>
                </a:solidFill>
                <a:latin typeface="Spectral"/>
                <a:ea typeface="Spectral"/>
                <a:cs typeface="Spectral"/>
                <a:sym typeface="Spectral"/>
              </a:rPr>
              <a:t>Irregular spacing, overlaps, and connected characters</a:t>
            </a:r>
            <a:endParaRPr b="1" sz="2200">
              <a:solidFill>
                <a:schemeClr val="dk1"/>
              </a:solidFill>
              <a:latin typeface="Spectral"/>
              <a:ea typeface="Spectral"/>
              <a:cs typeface="Spectral"/>
              <a:sym typeface="Spectral"/>
            </a:endParaRPr>
          </a:p>
          <a:p>
            <a:pPr indent="-368300" lvl="0" marL="457200" rtl="0" algn="l">
              <a:lnSpc>
                <a:spcPct val="115000"/>
              </a:lnSpc>
              <a:spcBef>
                <a:spcPts val="0"/>
              </a:spcBef>
              <a:spcAft>
                <a:spcPts val="0"/>
              </a:spcAft>
              <a:buClr>
                <a:schemeClr val="dk1"/>
              </a:buClr>
              <a:buSzPts val="2200"/>
              <a:buFont typeface="Spectral"/>
              <a:buChar char="●"/>
            </a:pPr>
            <a:r>
              <a:rPr b="1" lang="en-IN" sz="2200">
                <a:solidFill>
                  <a:schemeClr val="dk1"/>
                </a:solidFill>
                <a:latin typeface="Spectral"/>
                <a:ea typeface="Spectral"/>
                <a:cs typeface="Spectral"/>
                <a:sym typeface="Spectral"/>
              </a:rPr>
              <a:t>Inability to process noisy or distorted inputs</a:t>
            </a:r>
            <a:endParaRPr b="1" sz="2200">
              <a:solidFill>
                <a:schemeClr val="dk1"/>
              </a:solidFill>
              <a:latin typeface="Spectral"/>
              <a:ea typeface="Spectral"/>
              <a:cs typeface="Spectral"/>
              <a:sym typeface="Spectral"/>
            </a:endParaRPr>
          </a:p>
          <a:p>
            <a:pPr indent="-368300" lvl="0" marL="457200" rtl="0" algn="l">
              <a:lnSpc>
                <a:spcPct val="115000"/>
              </a:lnSpc>
              <a:spcBef>
                <a:spcPts val="0"/>
              </a:spcBef>
              <a:spcAft>
                <a:spcPts val="0"/>
              </a:spcAft>
              <a:buClr>
                <a:schemeClr val="dk1"/>
              </a:buClr>
              <a:buSzPts val="2200"/>
              <a:buChar char="●"/>
            </a:pPr>
            <a:r>
              <a:rPr b="1" lang="en-IN" sz="2200">
                <a:solidFill>
                  <a:schemeClr val="dk1"/>
                </a:solidFill>
                <a:latin typeface="Spectral"/>
                <a:ea typeface="Spectral"/>
                <a:cs typeface="Spectral"/>
                <a:sym typeface="Spectral"/>
              </a:rPr>
              <a:t>Limited contextual understanding</a:t>
            </a:r>
            <a:r>
              <a:rPr lang="en-IN" sz="2200">
                <a:solidFill>
                  <a:schemeClr val="dk1"/>
                </a:solidFill>
                <a:latin typeface="Spectral"/>
                <a:ea typeface="Spectral"/>
                <a:cs typeface="Spectral"/>
                <a:sym typeface="Spectral"/>
              </a:rPr>
              <a:t>, leading to poor recognition accuracy</a:t>
            </a:r>
            <a:endParaRPr sz="2200">
              <a:solidFill>
                <a:schemeClr val="dk1"/>
              </a:solidFill>
              <a:latin typeface="Spectral"/>
              <a:ea typeface="Spectral"/>
              <a:cs typeface="Spectral"/>
              <a:sym typeface="Spectral"/>
            </a:endParaRPr>
          </a:p>
          <a:p>
            <a:pPr indent="-368300" lvl="0" marL="457200" rtl="0" algn="l">
              <a:lnSpc>
                <a:spcPct val="115000"/>
              </a:lnSpc>
              <a:spcBef>
                <a:spcPts val="0"/>
              </a:spcBef>
              <a:spcAft>
                <a:spcPts val="0"/>
              </a:spcAft>
              <a:buClr>
                <a:schemeClr val="dk1"/>
              </a:buClr>
              <a:buSzPts val="2200"/>
              <a:buChar char="●"/>
            </a:pPr>
            <a:r>
              <a:rPr lang="en-IN" sz="2200">
                <a:solidFill>
                  <a:schemeClr val="dk1"/>
                </a:solidFill>
                <a:latin typeface="Spectral"/>
                <a:ea typeface="Spectral"/>
                <a:cs typeface="Spectral"/>
                <a:sym typeface="Spectral"/>
              </a:rPr>
              <a:t>Dependence on </a:t>
            </a:r>
            <a:r>
              <a:rPr b="1" lang="en-IN" sz="2200">
                <a:solidFill>
                  <a:schemeClr val="dk1"/>
                </a:solidFill>
                <a:latin typeface="Spectral"/>
                <a:ea typeface="Spectral"/>
                <a:cs typeface="Spectral"/>
                <a:sym typeface="Spectral"/>
              </a:rPr>
              <a:t>language-specific templates</a:t>
            </a:r>
            <a:r>
              <a:rPr lang="en-IN" sz="2200">
                <a:solidFill>
                  <a:schemeClr val="dk1"/>
                </a:solidFill>
                <a:latin typeface="Spectral"/>
                <a:ea typeface="Spectral"/>
                <a:cs typeface="Spectral"/>
                <a:sym typeface="Spectral"/>
              </a:rPr>
              <a:t>, reducing adaptability</a:t>
            </a:r>
            <a:endParaRPr sz="2200">
              <a:solidFill>
                <a:schemeClr val="dk1"/>
              </a:solidFill>
              <a:latin typeface="Spectral"/>
              <a:ea typeface="Spectral"/>
              <a:cs typeface="Spectral"/>
              <a:sym typeface="Spectral"/>
            </a:endParaRPr>
          </a:p>
          <a:p>
            <a:pPr indent="0" lvl="0" marL="457200" rtl="0" algn="l">
              <a:lnSpc>
                <a:spcPct val="115000"/>
              </a:lnSpc>
              <a:spcBef>
                <a:spcPts val="1200"/>
              </a:spcBef>
              <a:spcAft>
                <a:spcPts val="0"/>
              </a:spcAft>
              <a:buNone/>
            </a:pPr>
            <a:r>
              <a:t/>
            </a:r>
            <a:endParaRPr sz="2500">
              <a:solidFill>
                <a:schemeClr val="dk1"/>
              </a:solidFill>
              <a:latin typeface="Spectral"/>
              <a:ea typeface="Spectral"/>
              <a:cs typeface="Spectral"/>
              <a:sym typeface="Spectral"/>
            </a:endParaRPr>
          </a:p>
          <a:p>
            <a:pPr indent="0" lvl="0" marL="0" rtl="0" algn="l">
              <a:spcBef>
                <a:spcPts val="1200"/>
              </a:spcBef>
              <a:spcAft>
                <a:spcPts val="0"/>
              </a:spcAft>
              <a:buNone/>
            </a:pPr>
            <a:r>
              <a:t/>
            </a:r>
            <a:endParaRPr sz="2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pic>
        <p:nvPicPr>
          <p:cNvPr id="121" name="Google Shape;121;p18"/>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122" name="Google Shape;122;p18"/>
          <p:cNvSpPr txBox="1"/>
          <p:nvPr>
            <p:ph idx="4294967295" type="title"/>
          </p:nvPr>
        </p:nvSpPr>
        <p:spPr>
          <a:xfrm>
            <a:off x="1645525" y="315875"/>
            <a:ext cx="9659100" cy="13257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22222"/>
              </a:buClr>
              <a:buSzPts val="4400"/>
              <a:buFont typeface="Arial"/>
              <a:buNone/>
            </a:pPr>
            <a:r>
              <a:rPr lang="en-IN">
                <a:latin typeface="Times New Roman"/>
                <a:ea typeface="Times New Roman"/>
                <a:cs typeface="Times New Roman"/>
                <a:sym typeface="Times New Roman"/>
              </a:rPr>
              <a:t>Proposed System</a:t>
            </a:r>
            <a:endParaRPr>
              <a:latin typeface="Times New Roman"/>
              <a:ea typeface="Times New Roman"/>
              <a:cs typeface="Times New Roman"/>
              <a:sym typeface="Times New Roman"/>
            </a:endParaRPr>
          </a:p>
        </p:txBody>
      </p:sp>
      <p:sp>
        <p:nvSpPr>
          <p:cNvPr id="123" name="Google Shape;123;p18"/>
          <p:cNvSpPr txBox="1"/>
          <p:nvPr/>
        </p:nvSpPr>
        <p:spPr>
          <a:xfrm>
            <a:off x="837000" y="1714500"/>
            <a:ext cx="11109000" cy="46440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1200"/>
              </a:spcBef>
              <a:spcAft>
                <a:spcPts val="0"/>
              </a:spcAft>
              <a:buClr>
                <a:schemeClr val="dk1"/>
              </a:buClr>
              <a:buSzPts val="1100"/>
              <a:buFont typeface="Arial"/>
              <a:buNone/>
            </a:pPr>
            <a:r>
              <a:rPr lang="en-IN" sz="1900">
                <a:solidFill>
                  <a:schemeClr val="dk1"/>
                </a:solidFill>
                <a:latin typeface="Spectral"/>
                <a:ea typeface="Spectral"/>
                <a:cs typeface="Spectral"/>
                <a:sym typeface="Spectral"/>
              </a:rPr>
              <a:t>The proposed system introduces an </a:t>
            </a:r>
            <a:r>
              <a:rPr b="1" lang="en-IN" sz="1900">
                <a:solidFill>
                  <a:schemeClr val="dk1"/>
                </a:solidFill>
                <a:latin typeface="Spectral"/>
                <a:ea typeface="Spectral"/>
                <a:cs typeface="Spectral"/>
                <a:sym typeface="Spectral"/>
              </a:rPr>
              <a:t>intelligent, machine learning-based approach</a:t>
            </a:r>
            <a:r>
              <a:rPr lang="en-IN" sz="1900">
                <a:solidFill>
                  <a:schemeClr val="dk1"/>
                </a:solidFill>
                <a:latin typeface="Spectral"/>
                <a:ea typeface="Spectral"/>
                <a:cs typeface="Spectral"/>
                <a:sym typeface="Spectral"/>
              </a:rPr>
              <a:t> to handwritten text recognition, overcoming the challenges of traditional OCR systems. Key highlights include:</a:t>
            </a:r>
            <a:endParaRPr sz="1900">
              <a:solidFill>
                <a:schemeClr val="dk1"/>
              </a:solidFill>
              <a:latin typeface="Spectral"/>
              <a:ea typeface="Spectral"/>
              <a:cs typeface="Spectral"/>
              <a:sym typeface="Spectral"/>
            </a:endParaRPr>
          </a:p>
          <a:p>
            <a:pPr indent="-349250" lvl="0" marL="457200" rtl="0" algn="l">
              <a:lnSpc>
                <a:spcPct val="115000"/>
              </a:lnSpc>
              <a:spcBef>
                <a:spcPts val="1200"/>
              </a:spcBef>
              <a:spcAft>
                <a:spcPts val="0"/>
              </a:spcAft>
              <a:buClr>
                <a:schemeClr val="dk1"/>
              </a:buClr>
              <a:buSzPts val="1900"/>
              <a:buChar char="●"/>
            </a:pPr>
            <a:r>
              <a:rPr b="1" lang="en-IN" sz="1900">
                <a:solidFill>
                  <a:schemeClr val="dk1"/>
                </a:solidFill>
                <a:latin typeface="Spectral"/>
                <a:ea typeface="Spectral"/>
                <a:cs typeface="Spectral"/>
                <a:sym typeface="Spectral"/>
              </a:rPr>
              <a:t>Deep learning models (e.g., CNNs)</a:t>
            </a:r>
            <a:r>
              <a:rPr lang="en-IN" sz="1900">
                <a:solidFill>
                  <a:schemeClr val="dk1"/>
                </a:solidFill>
                <a:latin typeface="Spectral"/>
                <a:ea typeface="Spectral"/>
                <a:cs typeface="Spectral"/>
                <a:sym typeface="Spectral"/>
              </a:rPr>
              <a:t> for precise feature extraction and sequence prediction.</a:t>
            </a:r>
            <a:endParaRPr sz="1900">
              <a:solidFill>
                <a:schemeClr val="dk1"/>
              </a:solidFill>
              <a:latin typeface="Spectral"/>
              <a:ea typeface="Spectral"/>
              <a:cs typeface="Spectral"/>
              <a:sym typeface="Spectral"/>
            </a:endParaRPr>
          </a:p>
          <a:p>
            <a:pPr indent="-349250" lvl="0" marL="457200" rtl="0" algn="l">
              <a:lnSpc>
                <a:spcPct val="115000"/>
              </a:lnSpc>
              <a:spcBef>
                <a:spcPts val="0"/>
              </a:spcBef>
              <a:spcAft>
                <a:spcPts val="0"/>
              </a:spcAft>
              <a:buClr>
                <a:schemeClr val="dk1"/>
              </a:buClr>
              <a:buSzPts val="1900"/>
              <a:buChar char="●"/>
            </a:pPr>
            <a:r>
              <a:rPr b="1" lang="en-IN" sz="1900">
                <a:solidFill>
                  <a:schemeClr val="dk1"/>
                </a:solidFill>
                <a:latin typeface="Spectral"/>
                <a:ea typeface="Spectral"/>
                <a:cs typeface="Spectral"/>
                <a:sym typeface="Spectral"/>
              </a:rPr>
              <a:t>Attention mechanisms</a:t>
            </a:r>
            <a:r>
              <a:rPr lang="en-IN" sz="1900">
                <a:solidFill>
                  <a:schemeClr val="dk1"/>
                </a:solidFill>
                <a:latin typeface="Spectral"/>
                <a:ea typeface="Spectral"/>
                <a:cs typeface="Spectral"/>
                <a:sym typeface="Spectral"/>
              </a:rPr>
              <a:t> to focus on key parts of the input image for better recognition.</a:t>
            </a:r>
            <a:endParaRPr sz="1900">
              <a:solidFill>
                <a:schemeClr val="dk1"/>
              </a:solidFill>
              <a:latin typeface="Spectral"/>
              <a:ea typeface="Spectral"/>
              <a:cs typeface="Spectral"/>
              <a:sym typeface="Spectral"/>
            </a:endParaRPr>
          </a:p>
          <a:p>
            <a:pPr indent="-349250" lvl="0" marL="457200" rtl="0" algn="l">
              <a:lnSpc>
                <a:spcPct val="115000"/>
              </a:lnSpc>
              <a:spcBef>
                <a:spcPts val="0"/>
              </a:spcBef>
              <a:spcAft>
                <a:spcPts val="0"/>
              </a:spcAft>
              <a:buClr>
                <a:schemeClr val="dk1"/>
              </a:buClr>
              <a:buSzPts val="1900"/>
              <a:buChar char="●"/>
            </a:pPr>
            <a:r>
              <a:rPr b="1" lang="en-IN" sz="1900">
                <a:solidFill>
                  <a:schemeClr val="dk1"/>
                </a:solidFill>
                <a:latin typeface="Spectral"/>
                <a:ea typeface="Spectral"/>
                <a:cs typeface="Spectral"/>
                <a:sym typeface="Spectral"/>
              </a:rPr>
              <a:t>Advanced preprocessing techniques</a:t>
            </a:r>
            <a:r>
              <a:rPr lang="en-IN" sz="1900">
                <a:solidFill>
                  <a:schemeClr val="dk1"/>
                </a:solidFill>
                <a:latin typeface="Spectral"/>
                <a:ea typeface="Spectral"/>
                <a:cs typeface="Spectral"/>
                <a:sym typeface="Spectral"/>
              </a:rPr>
              <a:t> to handle noise, skewness, and uneven character spacing.</a:t>
            </a:r>
            <a:endParaRPr sz="1900">
              <a:solidFill>
                <a:schemeClr val="dk1"/>
              </a:solidFill>
              <a:latin typeface="Spectral"/>
              <a:ea typeface="Spectral"/>
              <a:cs typeface="Spectral"/>
              <a:sym typeface="Spectral"/>
            </a:endParaRPr>
          </a:p>
          <a:p>
            <a:pPr indent="-349250" lvl="0" marL="457200" rtl="0" algn="l">
              <a:lnSpc>
                <a:spcPct val="115000"/>
              </a:lnSpc>
              <a:spcBef>
                <a:spcPts val="0"/>
              </a:spcBef>
              <a:spcAft>
                <a:spcPts val="0"/>
              </a:spcAft>
              <a:buClr>
                <a:schemeClr val="dk1"/>
              </a:buClr>
              <a:buSzPts val="1900"/>
              <a:buChar char="●"/>
            </a:pPr>
            <a:r>
              <a:rPr b="1" lang="en-IN" sz="1900">
                <a:solidFill>
                  <a:schemeClr val="dk1"/>
                </a:solidFill>
                <a:latin typeface="Spectral"/>
                <a:ea typeface="Spectral"/>
                <a:cs typeface="Spectral"/>
                <a:sym typeface="Spectral"/>
              </a:rPr>
              <a:t>Data augmentation</a:t>
            </a:r>
            <a:r>
              <a:rPr lang="en-IN" sz="1900">
                <a:solidFill>
                  <a:schemeClr val="dk1"/>
                </a:solidFill>
                <a:latin typeface="Spectral"/>
                <a:ea typeface="Spectral"/>
                <a:cs typeface="Spectral"/>
                <a:sym typeface="Spectral"/>
              </a:rPr>
              <a:t> strategies to enhance model generalization across diverse handwriting styles.</a:t>
            </a:r>
            <a:endParaRPr sz="1900">
              <a:solidFill>
                <a:schemeClr val="dk1"/>
              </a:solidFill>
              <a:latin typeface="Spectral"/>
              <a:ea typeface="Spectral"/>
              <a:cs typeface="Spectral"/>
              <a:sym typeface="Spectral"/>
            </a:endParaRPr>
          </a:p>
          <a:p>
            <a:pPr indent="-349250" lvl="0" marL="457200" rtl="0" algn="l">
              <a:lnSpc>
                <a:spcPct val="115000"/>
              </a:lnSpc>
              <a:spcBef>
                <a:spcPts val="0"/>
              </a:spcBef>
              <a:spcAft>
                <a:spcPts val="0"/>
              </a:spcAft>
              <a:buClr>
                <a:schemeClr val="dk1"/>
              </a:buClr>
              <a:buSzPts val="1900"/>
              <a:buChar char="●"/>
            </a:pPr>
            <a:r>
              <a:rPr lang="en-IN" sz="1900">
                <a:solidFill>
                  <a:schemeClr val="dk1"/>
                </a:solidFill>
                <a:latin typeface="Spectral"/>
                <a:ea typeface="Spectral"/>
                <a:cs typeface="Spectral"/>
                <a:sym typeface="Spectral"/>
              </a:rPr>
              <a:t>Real-time processing for </a:t>
            </a:r>
            <a:r>
              <a:rPr b="1" lang="en-IN" sz="1900">
                <a:solidFill>
                  <a:schemeClr val="dk1"/>
                </a:solidFill>
                <a:latin typeface="Spectral"/>
                <a:ea typeface="Spectral"/>
                <a:cs typeface="Spectral"/>
                <a:sym typeface="Spectral"/>
              </a:rPr>
              <a:t>fast and efficient recognition</a:t>
            </a:r>
            <a:r>
              <a:rPr lang="en-IN" sz="1900">
                <a:solidFill>
                  <a:schemeClr val="dk1"/>
                </a:solidFill>
                <a:latin typeface="Spectral"/>
                <a:ea typeface="Spectral"/>
                <a:cs typeface="Spectral"/>
                <a:sym typeface="Spectral"/>
              </a:rPr>
              <a:t> in practical applications.</a:t>
            </a:r>
            <a:endParaRPr sz="1900">
              <a:solidFill>
                <a:schemeClr val="dk1"/>
              </a:solidFill>
              <a:latin typeface="Spectral"/>
              <a:ea typeface="Spectral"/>
              <a:cs typeface="Spectral"/>
              <a:sym typeface="Spectral"/>
            </a:endParaRPr>
          </a:p>
          <a:p>
            <a:pPr indent="-349250" lvl="0" marL="457200" rtl="0" algn="l">
              <a:lnSpc>
                <a:spcPct val="115000"/>
              </a:lnSpc>
              <a:spcBef>
                <a:spcPts val="0"/>
              </a:spcBef>
              <a:spcAft>
                <a:spcPts val="0"/>
              </a:spcAft>
              <a:buClr>
                <a:schemeClr val="dk1"/>
              </a:buClr>
              <a:buSzPts val="1900"/>
              <a:buChar char="●"/>
            </a:pPr>
            <a:r>
              <a:rPr b="1" lang="en-IN" sz="1900">
                <a:solidFill>
                  <a:schemeClr val="dk1"/>
                </a:solidFill>
                <a:latin typeface="Spectral"/>
                <a:ea typeface="Spectral"/>
                <a:cs typeface="Spectral"/>
                <a:sym typeface="Spectral"/>
              </a:rPr>
              <a:t>Scalable and robust design</a:t>
            </a:r>
            <a:r>
              <a:rPr lang="en-IN" sz="1900">
                <a:solidFill>
                  <a:schemeClr val="dk1"/>
                </a:solidFill>
                <a:latin typeface="Spectral"/>
                <a:ea typeface="Spectral"/>
                <a:cs typeface="Spectral"/>
                <a:sym typeface="Spectral"/>
              </a:rPr>
              <a:t> ensures high accuracy across diverse handwriting styles.</a:t>
            </a:r>
            <a:endParaRPr sz="1900">
              <a:solidFill>
                <a:schemeClr val="dk1"/>
              </a:solidFill>
              <a:latin typeface="Spectral"/>
              <a:ea typeface="Spectral"/>
              <a:cs typeface="Spectral"/>
              <a:sym typeface="Spectral"/>
            </a:endParaRPr>
          </a:p>
          <a:p>
            <a:pPr indent="-349250" lvl="0" marL="457200" rtl="0" algn="l">
              <a:lnSpc>
                <a:spcPct val="115000"/>
              </a:lnSpc>
              <a:spcBef>
                <a:spcPts val="0"/>
              </a:spcBef>
              <a:spcAft>
                <a:spcPts val="0"/>
              </a:spcAft>
              <a:buClr>
                <a:schemeClr val="dk1"/>
              </a:buClr>
              <a:buSzPts val="1900"/>
              <a:buChar char="●"/>
            </a:pPr>
            <a:r>
              <a:rPr lang="en-IN" sz="1900">
                <a:solidFill>
                  <a:schemeClr val="dk1"/>
                </a:solidFill>
                <a:latin typeface="Spectral"/>
                <a:ea typeface="Spectral"/>
                <a:cs typeface="Spectral"/>
                <a:sym typeface="Spectral"/>
              </a:rPr>
              <a:t>Performs well even in </a:t>
            </a:r>
            <a:r>
              <a:rPr b="1" lang="en-IN" sz="1900">
                <a:solidFill>
                  <a:schemeClr val="dk1"/>
                </a:solidFill>
                <a:latin typeface="Spectral"/>
                <a:ea typeface="Spectral"/>
                <a:cs typeface="Spectral"/>
                <a:sym typeface="Spectral"/>
              </a:rPr>
              <a:t>challenging scenarios</a:t>
            </a:r>
            <a:r>
              <a:rPr lang="en-IN" sz="1900">
                <a:solidFill>
                  <a:schemeClr val="dk1"/>
                </a:solidFill>
                <a:latin typeface="Spectral"/>
                <a:ea typeface="Spectral"/>
                <a:cs typeface="Spectral"/>
                <a:sym typeface="Spectral"/>
              </a:rPr>
              <a:t> like low-quality scans.</a:t>
            </a:r>
            <a:endParaRPr sz="2700">
              <a:solidFill>
                <a:schemeClr val="dk1"/>
              </a:solidFill>
              <a:latin typeface="Spectral"/>
              <a:ea typeface="Spectral"/>
              <a:cs typeface="Spectral"/>
              <a:sym typeface="Spectr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19"/>
          <p:cNvPicPr preferRelativeResize="0"/>
          <p:nvPr/>
        </p:nvPicPr>
        <p:blipFill rotWithShape="1">
          <a:blip r:embed="rId3">
            <a:alphaModFix/>
          </a:blip>
          <a:srcRect b="9515" l="1897" r="11062" t="3505"/>
          <a:stretch/>
        </p:blipFill>
        <p:spPr>
          <a:xfrm>
            <a:off x="8387100" y="3104900"/>
            <a:ext cx="3705950" cy="3703601"/>
          </a:xfrm>
          <a:prstGeom prst="rect">
            <a:avLst/>
          </a:prstGeom>
          <a:noFill/>
          <a:ln>
            <a:noFill/>
          </a:ln>
        </p:spPr>
      </p:pic>
      <p:pic>
        <p:nvPicPr>
          <p:cNvPr id="129" name="Google Shape;129;p19"/>
          <p:cNvPicPr preferRelativeResize="0"/>
          <p:nvPr/>
        </p:nvPicPr>
        <p:blipFill rotWithShape="1">
          <a:blip r:embed="rId4">
            <a:alphaModFix/>
          </a:blip>
          <a:srcRect b="0" l="0" r="0" t="0"/>
          <a:stretch/>
        </p:blipFill>
        <p:spPr>
          <a:xfrm>
            <a:off x="375500" y="430225"/>
            <a:ext cx="1141950" cy="1077300"/>
          </a:xfrm>
          <a:prstGeom prst="rect">
            <a:avLst/>
          </a:prstGeom>
          <a:noFill/>
          <a:ln>
            <a:noFill/>
          </a:ln>
        </p:spPr>
      </p:pic>
      <p:sp>
        <p:nvSpPr>
          <p:cNvPr id="130" name="Google Shape;130;p19"/>
          <p:cNvSpPr txBox="1"/>
          <p:nvPr>
            <p:ph idx="4294967295" type="title"/>
          </p:nvPr>
        </p:nvSpPr>
        <p:spPr>
          <a:xfrm>
            <a:off x="1645525" y="315875"/>
            <a:ext cx="9659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22222"/>
              </a:buClr>
              <a:buSzPts val="4400"/>
              <a:buFont typeface="Arial"/>
              <a:buNone/>
            </a:pPr>
            <a:r>
              <a:rPr lang="en-IN">
                <a:latin typeface="Times New Roman"/>
                <a:ea typeface="Times New Roman"/>
                <a:cs typeface="Times New Roman"/>
                <a:sym typeface="Times New Roman"/>
              </a:rPr>
              <a:t>Software &amp; </a:t>
            </a:r>
            <a:r>
              <a:rPr lang="en-IN">
                <a:latin typeface="Times New Roman"/>
                <a:ea typeface="Times New Roman"/>
                <a:cs typeface="Times New Roman"/>
                <a:sym typeface="Times New Roman"/>
              </a:rPr>
              <a:t>Hardware Requirements</a:t>
            </a:r>
            <a:endParaRPr>
              <a:latin typeface="Times New Roman"/>
              <a:ea typeface="Times New Roman"/>
              <a:cs typeface="Times New Roman"/>
              <a:sym typeface="Times New Roman"/>
            </a:endParaRPr>
          </a:p>
        </p:txBody>
      </p:sp>
      <p:pic>
        <p:nvPicPr>
          <p:cNvPr id="131" name="Google Shape;131;p19"/>
          <p:cNvPicPr preferRelativeResize="0"/>
          <p:nvPr/>
        </p:nvPicPr>
        <p:blipFill rotWithShape="1">
          <a:blip r:embed="rId5">
            <a:alphaModFix amt="80000"/>
          </a:blip>
          <a:srcRect b="33669" l="16240" r="11321" t="33689"/>
          <a:stretch/>
        </p:blipFill>
        <p:spPr>
          <a:xfrm>
            <a:off x="7780800" y="2284825"/>
            <a:ext cx="2795650" cy="944876"/>
          </a:xfrm>
          <a:prstGeom prst="rect">
            <a:avLst/>
          </a:prstGeom>
          <a:noFill/>
          <a:ln>
            <a:noFill/>
          </a:ln>
        </p:spPr>
      </p:pic>
      <p:sp>
        <p:nvSpPr>
          <p:cNvPr id="132" name="Google Shape;132;p19"/>
          <p:cNvSpPr txBox="1"/>
          <p:nvPr/>
        </p:nvSpPr>
        <p:spPr>
          <a:xfrm>
            <a:off x="804050" y="1942125"/>
            <a:ext cx="8213700" cy="416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3200">
                <a:solidFill>
                  <a:schemeClr val="dk1"/>
                </a:solidFill>
                <a:latin typeface="Spectral"/>
                <a:ea typeface="Spectral"/>
                <a:cs typeface="Spectral"/>
                <a:sym typeface="Spectral"/>
              </a:rPr>
              <a:t>Software Requirements :</a:t>
            </a:r>
            <a:endParaRPr sz="3200">
              <a:solidFill>
                <a:schemeClr val="dk1"/>
              </a:solidFill>
              <a:latin typeface="Spectral"/>
              <a:ea typeface="Spectral"/>
              <a:cs typeface="Spectral"/>
              <a:sym typeface="Spectral"/>
            </a:endParaRPr>
          </a:p>
          <a:p>
            <a:pPr indent="0" lvl="0" marL="0" rtl="0" algn="l">
              <a:spcBef>
                <a:spcPts val="0"/>
              </a:spcBef>
              <a:spcAft>
                <a:spcPts val="0"/>
              </a:spcAft>
              <a:buNone/>
            </a:pPr>
            <a:r>
              <a:t/>
            </a:r>
            <a:endParaRPr sz="1000">
              <a:solidFill>
                <a:schemeClr val="dk1"/>
              </a:solidFill>
              <a:latin typeface="Spectral"/>
              <a:ea typeface="Spectral"/>
              <a:cs typeface="Spectral"/>
              <a:sym typeface="Spectral"/>
            </a:endParaRPr>
          </a:p>
          <a:p>
            <a:pPr indent="0" lvl="0" marL="0" rtl="0" algn="l">
              <a:spcBef>
                <a:spcPts val="0"/>
              </a:spcBef>
              <a:spcAft>
                <a:spcPts val="0"/>
              </a:spcAft>
              <a:buNone/>
            </a:pPr>
            <a:r>
              <a:t/>
            </a:r>
            <a:endParaRPr sz="1000">
              <a:solidFill>
                <a:schemeClr val="dk1"/>
              </a:solidFill>
              <a:latin typeface="Spectral"/>
              <a:ea typeface="Spectral"/>
              <a:cs typeface="Spectral"/>
              <a:sym typeface="Spectral"/>
            </a:endParaRPr>
          </a:p>
          <a:p>
            <a:pPr indent="-355600" lvl="0" marL="457200" rtl="0" algn="l">
              <a:spcBef>
                <a:spcPts val="0"/>
              </a:spcBef>
              <a:spcAft>
                <a:spcPts val="0"/>
              </a:spcAft>
              <a:buClr>
                <a:schemeClr val="dk1"/>
              </a:buClr>
              <a:buSzPts val="2000"/>
              <a:buFont typeface="Spectral"/>
              <a:buChar char="❖"/>
            </a:pPr>
            <a:r>
              <a:rPr b="1" lang="en-IN" sz="2000">
                <a:solidFill>
                  <a:schemeClr val="dk1"/>
                </a:solidFill>
                <a:latin typeface="Spectral"/>
                <a:ea typeface="Spectral"/>
                <a:cs typeface="Spectral"/>
                <a:sym typeface="Spectral"/>
              </a:rPr>
              <a:t>Programming Language</a:t>
            </a:r>
            <a:r>
              <a:rPr lang="en-IN" sz="2000">
                <a:solidFill>
                  <a:schemeClr val="dk1"/>
                </a:solidFill>
                <a:latin typeface="Spectral"/>
                <a:ea typeface="Spectral"/>
                <a:cs typeface="Spectral"/>
                <a:sym typeface="Spectral"/>
              </a:rPr>
              <a:t>: Python 3.x</a:t>
            </a:r>
            <a:endParaRPr sz="2000">
              <a:solidFill>
                <a:schemeClr val="dk1"/>
              </a:solidFill>
              <a:latin typeface="Spectral"/>
              <a:ea typeface="Spectral"/>
              <a:cs typeface="Spectral"/>
              <a:sym typeface="Spectral"/>
            </a:endParaRPr>
          </a:p>
          <a:p>
            <a:pPr indent="-355600" lvl="0" marL="457200" rtl="0" algn="l">
              <a:spcBef>
                <a:spcPts val="1000"/>
              </a:spcBef>
              <a:spcAft>
                <a:spcPts val="0"/>
              </a:spcAft>
              <a:buClr>
                <a:schemeClr val="dk1"/>
              </a:buClr>
              <a:buSzPts val="2000"/>
              <a:buFont typeface="Spectral"/>
              <a:buChar char="❖"/>
            </a:pPr>
            <a:r>
              <a:rPr b="1" lang="en-IN" sz="2000">
                <a:solidFill>
                  <a:schemeClr val="dk1"/>
                </a:solidFill>
                <a:latin typeface="Spectral"/>
                <a:ea typeface="Spectral"/>
                <a:cs typeface="Spectral"/>
                <a:sym typeface="Spectral"/>
              </a:rPr>
              <a:t>Frameworks/Libraries</a:t>
            </a:r>
            <a:r>
              <a:rPr lang="en-IN" sz="2000">
                <a:solidFill>
                  <a:schemeClr val="dk1"/>
                </a:solidFill>
                <a:latin typeface="Spectral"/>
                <a:ea typeface="Spectral"/>
                <a:cs typeface="Spectral"/>
                <a:sym typeface="Spectral"/>
              </a:rPr>
              <a:t>:</a:t>
            </a:r>
            <a:endParaRPr sz="2000">
              <a:solidFill>
                <a:schemeClr val="dk1"/>
              </a:solidFill>
              <a:latin typeface="Spectral"/>
              <a:ea typeface="Spectral"/>
              <a:cs typeface="Spectral"/>
              <a:sym typeface="Spectral"/>
            </a:endParaRPr>
          </a:p>
          <a:p>
            <a:pPr indent="-355600" lvl="0" marL="914400" rtl="0" algn="l">
              <a:spcBef>
                <a:spcPts val="1000"/>
              </a:spcBef>
              <a:spcAft>
                <a:spcPts val="0"/>
              </a:spcAft>
              <a:buSzPts val="2000"/>
              <a:buFont typeface="Spectral"/>
              <a:buChar char="●"/>
            </a:pPr>
            <a:r>
              <a:rPr lang="en-IN" sz="2000">
                <a:latin typeface="Spectral"/>
                <a:ea typeface="Spectral"/>
                <a:cs typeface="Spectral"/>
                <a:sym typeface="Spectral"/>
              </a:rPr>
              <a:t>TensorFlow or PyTorch (for deep learning)</a:t>
            </a:r>
            <a:endParaRPr sz="2000">
              <a:latin typeface="Spectral"/>
              <a:ea typeface="Spectral"/>
              <a:cs typeface="Spectral"/>
              <a:sym typeface="Spectral"/>
            </a:endParaRPr>
          </a:p>
          <a:p>
            <a:pPr indent="-355600" lvl="0" marL="914400" rtl="0" algn="l">
              <a:spcBef>
                <a:spcPts val="1000"/>
              </a:spcBef>
              <a:spcAft>
                <a:spcPts val="0"/>
              </a:spcAft>
              <a:buSzPts val="2000"/>
              <a:buFont typeface="Spectral"/>
              <a:buChar char="●"/>
            </a:pPr>
            <a:r>
              <a:rPr lang="en-IN" sz="2000">
                <a:latin typeface="Spectral"/>
                <a:ea typeface="Spectral"/>
                <a:cs typeface="Spectral"/>
                <a:sym typeface="Spectral"/>
              </a:rPr>
              <a:t>NumPy, Pandas (for data handling)</a:t>
            </a:r>
            <a:endParaRPr sz="2000">
              <a:latin typeface="Spectral"/>
              <a:ea typeface="Spectral"/>
              <a:cs typeface="Spectral"/>
              <a:sym typeface="Spectral"/>
            </a:endParaRPr>
          </a:p>
          <a:p>
            <a:pPr indent="-355600" lvl="0" marL="914400" rtl="0" algn="l">
              <a:spcBef>
                <a:spcPts val="1000"/>
              </a:spcBef>
              <a:spcAft>
                <a:spcPts val="0"/>
              </a:spcAft>
              <a:buSzPts val="2000"/>
              <a:buFont typeface="Spectral"/>
              <a:buChar char="●"/>
            </a:pPr>
            <a:r>
              <a:rPr lang="en-IN" sz="2000">
                <a:latin typeface="Spectral"/>
                <a:ea typeface="Spectral"/>
                <a:cs typeface="Spectral"/>
                <a:sym typeface="Spectral"/>
              </a:rPr>
              <a:t>OpenCV (for image preprocessing)</a:t>
            </a:r>
            <a:endParaRPr sz="2000">
              <a:solidFill>
                <a:schemeClr val="dk1"/>
              </a:solidFill>
              <a:latin typeface="Spectral"/>
              <a:ea typeface="Spectral"/>
              <a:cs typeface="Spectral"/>
              <a:sym typeface="Spectral"/>
            </a:endParaRPr>
          </a:p>
          <a:p>
            <a:pPr indent="-355600" lvl="0" marL="457200" rtl="0" algn="l">
              <a:lnSpc>
                <a:spcPct val="115000"/>
              </a:lnSpc>
              <a:spcBef>
                <a:spcPts val="1000"/>
              </a:spcBef>
              <a:spcAft>
                <a:spcPts val="0"/>
              </a:spcAft>
              <a:buClr>
                <a:schemeClr val="dk1"/>
              </a:buClr>
              <a:buSzPts val="2000"/>
              <a:buFont typeface="Spectral"/>
              <a:buChar char="❖"/>
            </a:pPr>
            <a:r>
              <a:rPr b="1" lang="en-IN" sz="2000">
                <a:solidFill>
                  <a:schemeClr val="dk1"/>
                </a:solidFill>
                <a:latin typeface="Spectral"/>
                <a:ea typeface="Spectral"/>
                <a:cs typeface="Spectral"/>
                <a:sym typeface="Spectral"/>
              </a:rPr>
              <a:t>Development Environment</a:t>
            </a:r>
            <a:r>
              <a:rPr lang="en-IN" sz="2000">
                <a:solidFill>
                  <a:schemeClr val="dk1"/>
                </a:solidFill>
                <a:latin typeface="Spectral"/>
                <a:ea typeface="Spectral"/>
                <a:cs typeface="Spectral"/>
                <a:sym typeface="Spectral"/>
              </a:rPr>
              <a:t>: Jupyter Notebook</a:t>
            </a:r>
            <a:r>
              <a:rPr lang="en-IN" sz="2000">
                <a:solidFill>
                  <a:schemeClr val="dk1"/>
                </a:solidFill>
                <a:latin typeface="Spectral"/>
                <a:ea typeface="Spectral"/>
                <a:cs typeface="Spectral"/>
                <a:sym typeface="Spectral"/>
              </a:rPr>
              <a:t> </a:t>
            </a:r>
            <a:r>
              <a:rPr lang="en-IN" sz="2000">
                <a:solidFill>
                  <a:schemeClr val="dk1"/>
                </a:solidFill>
                <a:latin typeface="Spectral"/>
                <a:ea typeface="Spectral"/>
                <a:cs typeface="Spectral"/>
                <a:sym typeface="Spectral"/>
              </a:rPr>
              <a:t> or Google Collab</a:t>
            </a:r>
            <a:endParaRPr sz="2000">
              <a:solidFill>
                <a:schemeClr val="dk1"/>
              </a:solidFill>
              <a:latin typeface="Spectral"/>
              <a:ea typeface="Spectral"/>
              <a:cs typeface="Spectral"/>
              <a:sym typeface="Spectral"/>
            </a:endParaRPr>
          </a:p>
          <a:p>
            <a:pPr indent="-355600" lvl="0" marL="457200" rtl="0" algn="l">
              <a:lnSpc>
                <a:spcPct val="115000"/>
              </a:lnSpc>
              <a:spcBef>
                <a:spcPts val="1000"/>
              </a:spcBef>
              <a:spcAft>
                <a:spcPts val="1000"/>
              </a:spcAft>
              <a:buClr>
                <a:schemeClr val="dk1"/>
              </a:buClr>
              <a:buSzPts val="2000"/>
              <a:buFont typeface="Spectral"/>
              <a:buChar char="❖"/>
            </a:pPr>
            <a:r>
              <a:rPr b="1" lang="en-IN" sz="2000">
                <a:solidFill>
                  <a:schemeClr val="dk1"/>
                </a:solidFill>
                <a:latin typeface="Spectral"/>
                <a:ea typeface="Spectral"/>
                <a:cs typeface="Spectral"/>
                <a:sym typeface="Spectral"/>
              </a:rPr>
              <a:t>Operating System</a:t>
            </a:r>
            <a:r>
              <a:rPr lang="en-IN" sz="2000">
                <a:solidFill>
                  <a:schemeClr val="dk1"/>
                </a:solidFill>
                <a:latin typeface="Spectral"/>
                <a:ea typeface="Spectral"/>
                <a:cs typeface="Spectral"/>
                <a:sym typeface="Spectral"/>
              </a:rPr>
              <a:t>: Windows 10/11, macOS, or Linux</a:t>
            </a:r>
            <a:endParaRPr sz="2000">
              <a:solidFill>
                <a:schemeClr val="dk1"/>
              </a:solidFill>
              <a:latin typeface="Spectral"/>
              <a:ea typeface="Spectral"/>
              <a:cs typeface="Spectral"/>
              <a:sym typeface="Spectr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0"/>
          <p:cNvPicPr preferRelativeResize="0"/>
          <p:nvPr/>
        </p:nvPicPr>
        <p:blipFill rotWithShape="1">
          <a:blip r:embed="rId3">
            <a:alphaModFix/>
          </a:blip>
          <a:srcRect b="12454" l="0" r="0" t="8867"/>
          <a:stretch/>
        </p:blipFill>
        <p:spPr>
          <a:xfrm>
            <a:off x="8012300" y="2091275"/>
            <a:ext cx="3400250" cy="2675450"/>
          </a:xfrm>
          <a:prstGeom prst="rect">
            <a:avLst/>
          </a:prstGeom>
          <a:noFill/>
          <a:ln>
            <a:noFill/>
          </a:ln>
        </p:spPr>
      </p:pic>
      <p:pic>
        <p:nvPicPr>
          <p:cNvPr id="138" name="Google Shape;138;p20"/>
          <p:cNvPicPr preferRelativeResize="0"/>
          <p:nvPr/>
        </p:nvPicPr>
        <p:blipFill rotWithShape="1">
          <a:blip r:embed="rId4">
            <a:alphaModFix/>
          </a:blip>
          <a:srcRect b="0" l="0" r="0" t="0"/>
          <a:stretch/>
        </p:blipFill>
        <p:spPr>
          <a:xfrm>
            <a:off x="375500" y="430225"/>
            <a:ext cx="1141950" cy="1077300"/>
          </a:xfrm>
          <a:prstGeom prst="rect">
            <a:avLst/>
          </a:prstGeom>
          <a:noFill/>
          <a:ln>
            <a:noFill/>
          </a:ln>
        </p:spPr>
      </p:pic>
      <p:sp>
        <p:nvSpPr>
          <p:cNvPr id="139" name="Google Shape;139;p20"/>
          <p:cNvSpPr txBox="1"/>
          <p:nvPr>
            <p:ph idx="4294967295" type="title"/>
          </p:nvPr>
        </p:nvSpPr>
        <p:spPr>
          <a:xfrm>
            <a:off x="1645525" y="315875"/>
            <a:ext cx="9659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222222"/>
              </a:buClr>
              <a:buSzPts val="4400"/>
              <a:buFont typeface="Arial"/>
              <a:buNone/>
            </a:pPr>
            <a:r>
              <a:rPr lang="en-IN">
                <a:latin typeface="Times New Roman"/>
                <a:ea typeface="Times New Roman"/>
                <a:cs typeface="Times New Roman"/>
                <a:sym typeface="Times New Roman"/>
              </a:rPr>
              <a:t>Software &amp; Hardware Requirements</a:t>
            </a:r>
            <a:endParaRPr>
              <a:latin typeface="Times New Roman"/>
              <a:ea typeface="Times New Roman"/>
              <a:cs typeface="Times New Roman"/>
              <a:sym typeface="Times New Roman"/>
            </a:endParaRPr>
          </a:p>
        </p:txBody>
      </p:sp>
      <p:sp>
        <p:nvSpPr>
          <p:cNvPr id="140" name="Google Shape;140;p20"/>
          <p:cNvSpPr txBox="1"/>
          <p:nvPr/>
        </p:nvSpPr>
        <p:spPr>
          <a:xfrm>
            <a:off x="804050" y="1942125"/>
            <a:ext cx="8213700" cy="416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3200">
                <a:solidFill>
                  <a:schemeClr val="dk1"/>
                </a:solidFill>
                <a:latin typeface="Spectral"/>
                <a:ea typeface="Spectral"/>
                <a:cs typeface="Spectral"/>
                <a:sym typeface="Spectral"/>
              </a:rPr>
              <a:t>Hard</a:t>
            </a:r>
            <a:r>
              <a:rPr lang="en-IN" sz="3200">
                <a:solidFill>
                  <a:schemeClr val="dk1"/>
                </a:solidFill>
                <a:latin typeface="Spectral"/>
                <a:ea typeface="Spectral"/>
                <a:cs typeface="Spectral"/>
                <a:sym typeface="Spectral"/>
              </a:rPr>
              <a:t>ware Requirements :</a:t>
            </a:r>
            <a:endParaRPr sz="3200">
              <a:solidFill>
                <a:schemeClr val="dk1"/>
              </a:solidFill>
              <a:latin typeface="Spectral"/>
              <a:ea typeface="Spectral"/>
              <a:cs typeface="Spectral"/>
              <a:sym typeface="Spectral"/>
            </a:endParaRPr>
          </a:p>
          <a:p>
            <a:pPr indent="0" lvl="0" marL="0" rtl="0" algn="l">
              <a:spcBef>
                <a:spcPts val="0"/>
              </a:spcBef>
              <a:spcAft>
                <a:spcPts val="0"/>
              </a:spcAft>
              <a:buNone/>
            </a:pPr>
            <a:r>
              <a:t/>
            </a:r>
            <a:endParaRPr sz="1000">
              <a:solidFill>
                <a:schemeClr val="dk1"/>
              </a:solidFill>
              <a:latin typeface="Spectral"/>
              <a:ea typeface="Spectral"/>
              <a:cs typeface="Spectral"/>
              <a:sym typeface="Spectral"/>
            </a:endParaRPr>
          </a:p>
          <a:p>
            <a:pPr indent="0" lvl="0" marL="0" rtl="0" algn="l">
              <a:spcBef>
                <a:spcPts val="0"/>
              </a:spcBef>
              <a:spcAft>
                <a:spcPts val="0"/>
              </a:spcAft>
              <a:buNone/>
            </a:pPr>
            <a:r>
              <a:t/>
            </a:r>
            <a:endParaRPr sz="1000">
              <a:solidFill>
                <a:schemeClr val="dk1"/>
              </a:solidFill>
              <a:latin typeface="Spectral"/>
              <a:ea typeface="Spectral"/>
              <a:cs typeface="Spectral"/>
              <a:sym typeface="Spectral"/>
            </a:endParaRPr>
          </a:p>
          <a:p>
            <a:pPr indent="-355600" lvl="0" marL="457200" rtl="0" algn="l">
              <a:lnSpc>
                <a:spcPct val="115000"/>
              </a:lnSpc>
              <a:spcBef>
                <a:spcPts val="0"/>
              </a:spcBef>
              <a:spcAft>
                <a:spcPts val="0"/>
              </a:spcAft>
              <a:buClr>
                <a:schemeClr val="dk1"/>
              </a:buClr>
              <a:buSzPts val="2000"/>
              <a:buFont typeface="Spectral"/>
              <a:buChar char="❖"/>
            </a:pPr>
            <a:r>
              <a:rPr b="1" lang="en-IN" sz="2000">
                <a:solidFill>
                  <a:schemeClr val="dk1"/>
                </a:solidFill>
                <a:latin typeface="Spectral"/>
                <a:ea typeface="Spectral"/>
                <a:cs typeface="Spectral"/>
                <a:sym typeface="Spectral"/>
              </a:rPr>
              <a:t>Processor</a:t>
            </a:r>
            <a:r>
              <a:rPr lang="en-IN" sz="2000">
                <a:solidFill>
                  <a:schemeClr val="dk1"/>
                </a:solidFill>
                <a:latin typeface="Spectral"/>
                <a:ea typeface="Spectral"/>
                <a:cs typeface="Spectral"/>
                <a:sym typeface="Spectral"/>
              </a:rPr>
              <a:t>: Intel i5 or above (or equivalent)</a:t>
            </a:r>
            <a:endParaRPr sz="2000">
              <a:solidFill>
                <a:schemeClr val="dk1"/>
              </a:solidFill>
              <a:latin typeface="Spectral"/>
              <a:ea typeface="Spectral"/>
              <a:cs typeface="Spectral"/>
              <a:sym typeface="Spectral"/>
            </a:endParaRPr>
          </a:p>
          <a:p>
            <a:pPr indent="-355600" lvl="0" marL="457200" rtl="0" algn="l">
              <a:lnSpc>
                <a:spcPct val="115000"/>
              </a:lnSpc>
              <a:spcBef>
                <a:spcPts val="1000"/>
              </a:spcBef>
              <a:spcAft>
                <a:spcPts val="0"/>
              </a:spcAft>
              <a:buClr>
                <a:schemeClr val="dk1"/>
              </a:buClr>
              <a:buSzPts val="2000"/>
              <a:buFont typeface="Spectral"/>
              <a:buChar char="❖"/>
            </a:pPr>
            <a:r>
              <a:rPr b="1" lang="en-IN" sz="2000">
                <a:solidFill>
                  <a:schemeClr val="dk1"/>
                </a:solidFill>
                <a:latin typeface="Spectral"/>
                <a:ea typeface="Spectral"/>
                <a:cs typeface="Spectral"/>
                <a:sym typeface="Spectral"/>
              </a:rPr>
              <a:t>RAM</a:t>
            </a:r>
            <a:r>
              <a:rPr lang="en-IN" sz="2000">
                <a:solidFill>
                  <a:schemeClr val="dk1"/>
                </a:solidFill>
                <a:latin typeface="Spectral"/>
                <a:ea typeface="Spectral"/>
                <a:cs typeface="Spectral"/>
                <a:sym typeface="Spectral"/>
              </a:rPr>
              <a:t>: 8 GB (minimum), 16 GB (recommended)</a:t>
            </a:r>
            <a:endParaRPr sz="2000">
              <a:solidFill>
                <a:schemeClr val="dk1"/>
              </a:solidFill>
              <a:latin typeface="Spectral"/>
              <a:ea typeface="Spectral"/>
              <a:cs typeface="Spectral"/>
              <a:sym typeface="Spectral"/>
            </a:endParaRPr>
          </a:p>
          <a:p>
            <a:pPr indent="-355600" lvl="0" marL="457200" rtl="0" algn="l">
              <a:lnSpc>
                <a:spcPct val="115000"/>
              </a:lnSpc>
              <a:spcBef>
                <a:spcPts val="1000"/>
              </a:spcBef>
              <a:spcAft>
                <a:spcPts val="0"/>
              </a:spcAft>
              <a:buClr>
                <a:schemeClr val="dk1"/>
              </a:buClr>
              <a:buSzPts val="2000"/>
              <a:buFont typeface="Spectral"/>
              <a:buChar char="❖"/>
            </a:pPr>
            <a:r>
              <a:rPr b="1" lang="en-IN" sz="2000">
                <a:solidFill>
                  <a:schemeClr val="dk1"/>
                </a:solidFill>
                <a:latin typeface="Spectral"/>
                <a:ea typeface="Spectral"/>
                <a:cs typeface="Spectral"/>
                <a:sym typeface="Spectral"/>
              </a:rPr>
              <a:t>Storage</a:t>
            </a:r>
            <a:r>
              <a:rPr lang="en-IN" sz="2000">
                <a:solidFill>
                  <a:schemeClr val="dk1"/>
                </a:solidFill>
                <a:latin typeface="Spectral"/>
                <a:ea typeface="Spectral"/>
                <a:cs typeface="Spectral"/>
                <a:sym typeface="Spectral"/>
              </a:rPr>
              <a:t>: 10 GB free space for datasets and models</a:t>
            </a:r>
            <a:endParaRPr sz="2000">
              <a:solidFill>
                <a:schemeClr val="dk1"/>
              </a:solidFill>
              <a:latin typeface="Spectral"/>
              <a:ea typeface="Spectral"/>
              <a:cs typeface="Spectral"/>
              <a:sym typeface="Spectral"/>
            </a:endParaRPr>
          </a:p>
          <a:p>
            <a:pPr indent="-355600" lvl="0" marL="457200" rtl="0" algn="l">
              <a:lnSpc>
                <a:spcPct val="115000"/>
              </a:lnSpc>
              <a:spcBef>
                <a:spcPts val="1000"/>
              </a:spcBef>
              <a:spcAft>
                <a:spcPts val="1000"/>
              </a:spcAft>
              <a:buClr>
                <a:schemeClr val="dk1"/>
              </a:buClr>
              <a:buSzPts val="2000"/>
              <a:buFont typeface="Spectral"/>
              <a:buChar char="❖"/>
            </a:pPr>
            <a:r>
              <a:rPr b="1" lang="en-IN" sz="2000">
                <a:solidFill>
                  <a:schemeClr val="dk1"/>
                </a:solidFill>
                <a:latin typeface="Spectral"/>
                <a:ea typeface="Spectral"/>
                <a:cs typeface="Spectral"/>
                <a:sym typeface="Spectral"/>
              </a:rPr>
              <a:t>GPU</a:t>
            </a:r>
            <a:r>
              <a:rPr lang="en-IN" sz="2000">
                <a:solidFill>
                  <a:schemeClr val="dk1"/>
                </a:solidFill>
                <a:latin typeface="Spectral"/>
                <a:ea typeface="Spectral"/>
                <a:cs typeface="Spectral"/>
                <a:sym typeface="Spectral"/>
              </a:rPr>
              <a:t>: NVIDIA GTX 1050 or higher (for training DL models)</a:t>
            </a:r>
            <a:endParaRPr b="1" sz="2900">
              <a:solidFill>
                <a:schemeClr val="dk1"/>
              </a:solidFill>
              <a:latin typeface="Spectral"/>
              <a:ea typeface="Spectral"/>
              <a:cs typeface="Spectral"/>
              <a:sym typeface="Spectr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1"/>
          <p:cNvSpPr txBox="1"/>
          <p:nvPr>
            <p:ph idx="4294967295" type="title"/>
          </p:nvPr>
        </p:nvSpPr>
        <p:spPr>
          <a:xfrm>
            <a:off x="1615775" y="119075"/>
            <a:ext cx="8927100" cy="15129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222222"/>
              </a:buClr>
              <a:buSzPts val="4400"/>
              <a:buFont typeface="Arial"/>
              <a:buNone/>
            </a:pPr>
            <a:r>
              <a:rPr lang="en-IN">
                <a:latin typeface="Times New Roman"/>
                <a:ea typeface="Times New Roman"/>
                <a:cs typeface="Times New Roman"/>
                <a:sym typeface="Times New Roman"/>
              </a:rPr>
              <a:t>Literature Survey</a:t>
            </a:r>
            <a:endParaRPr>
              <a:latin typeface="Times New Roman"/>
              <a:ea typeface="Times New Roman"/>
              <a:cs typeface="Times New Roman"/>
              <a:sym typeface="Times New Roman"/>
            </a:endParaRPr>
          </a:p>
        </p:txBody>
      </p:sp>
      <p:graphicFrame>
        <p:nvGraphicFramePr>
          <p:cNvPr id="146" name="Google Shape;146;p21"/>
          <p:cNvGraphicFramePr/>
          <p:nvPr/>
        </p:nvGraphicFramePr>
        <p:xfrm>
          <a:off x="607170" y="1408302"/>
          <a:ext cx="3000000" cy="3000000"/>
        </p:xfrm>
        <a:graphic>
          <a:graphicData uri="http://schemas.openxmlformats.org/drawingml/2006/table">
            <a:tbl>
              <a:tblPr bandRow="1" firstRow="1">
                <a:noFill/>
                <a:tableStyleId>{2696901F-3CC9-40C9-923D-EA07E04F58D9}</a:tableStyleId>
              </a:tblPr>
              <a:tblGrid>
                <a:gridCol w="722675"/>
                <a:gridCol w="2920775"/>
                <a:gridCol w="4277675"/>
                <a:gridCol w="3023150"/>
              </a:tblGrid>
              <a:tr h="897125">
                <a:tc>
                  <a:txBody>
                    <a:bodyPr/>
                    <a:lstStyle/>
                    <a:p>
                      <a:pPr indent="0" lvl="0" marL="0" marR="0" rtl="0" algn="ctr">
                        <a:lnSpc>
                          <a:spcPct val="100000"/>
                        </a:lnSpc>
                        <a:spcBef>
                          <a:spcPts val="0"/>
                        </a:spcBef>
                        <a:spcAft>
                          <a:spcPts val="0"/>
                        </a:spcAft>
                        <a:buClr>
                          <a:srgbClr val="000000"/>
                        </a:buClr>
                        <a:buSzPts val="1800"/>
                        <a:buFont typeface="Calibri"/>
                        <a:buNone/>
                      </a:pPr>
                      <a:r>
                        <a:rPr i="1" lang="en-IN" sz="2000" u="none" cap="none" strike="noStrike">
                          <a:solidFill>
                            <a:srgbClr val="000000"/>
                          </a:solidFill>
                          <a:latin typeface="Times New Roman"/>
                          <a:ea typeface="Times New Roman"/>
                          <a:cs typeface="Times New Roman"/>
                          <a:sym typeface="Times New Roman"/>
                        </a:rPr>
                        <a:t>S.No</a:t>
                      </a:r>
                      <a:endParaRPr i="1" sz="2000" u="none" cap="none" strike="noStrike">
                        <a:latin typeface="Times New Roman"/>
                        <a:ea typeface="Times New Roman"/>
                        <a:cs typeface="Times New Roman"/>
                        <a:sym typeface="Times New Roman"/>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i="1" lang="en-IN" sz="2000" u="none" cap="none" strike="noStrike">
                          <a:solidFill>
                            <a:srgbClr val="000000"/>
                          </a:solidFill>
                          <a:latin typeface="Times New Roman"/>
                          <a:ea typeface="Times New Roman"/>
                          <a:cs typeface="Times New Roman"/>
                          <a:sym typeface="Times New Roman"/>
                        </a:rPr>
                        <a:t>Author(s) &amp;</a:t>
                      </a:r>
                      <a:endParaRPr i="1" sz="2000">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1800"/>
                        <a:buFont typeface="Calibri"/>
                        <a:buNone/>
                      </a:pPr>
                      <a:r>
                        <a:rPr i="1" lang="en-IN" sz="2000" u="none" cap="none" strike="noStrike">
                          <a:solidFill>
                            <a:srgbClr val="000000"/>
                          </a:solidFill>
                          <a:latin typeface="Times New Roman"/>
                          <a:ea typeface="Times New Roman"/>
                          <a:cs typeface="Times New Roman"/>
                          <a:sym typeface="Times New Roman"/>
                        </a:rPr>
                        <a:t>Journal Details</a:t>
                      </a:r>
                      <a:endParaRPr i="1" sz="2000" u="none" cap="none" strike="noStrike">
                        <a:latin typeface="Times New Roman"/>
                        <a:ea typeface="Times New Roman"/>
                        <a:cs typeface="Times New Roman"/>
                        <a:sym typeface="Times New Roman"/>
                      </a:endParaRPr>
                    </a:p>
                  </a:txBody>
                  <a:tcPr marT="45725" marB="45725" marR="91450" marL="91450" anchor="ctr">
                    <a:solidFill>
                      <a:schemeClr val="accent1"/>
                    </a:solidFill>
                  </a:tcPr>
                </a:tc>
                <a:tc>
                  <a:txBody>
                    <a:bodyPr/>
                    <a:lstStyle/>
                    <a:p>
                      <a:pPr indent="0" lvl="0" marL="0" marR="0" rtl="0" algn="ctr">
                        <a:lnSpc>
                          <a:spcPct val="100000"/>
                        </a:lnSpc>
                        <a:spcBef>
                          <a:spcPts val="0"/>
                        </a:spcBef>
                        <a:spcAft>
                          <a:spcPts val="0"/>
                        </a:spcAft>
                        <a:buClr>
                          <a:srgbClr val="000000"/>
                        </a:buClr>
                        <a:buSzPts val="1800"/>
                        <a:buFont typeface="Calibri"/>
                        <a:buNone/>
                      </a:pPr>
                      <a:r>
                        <a:rPr i="1" lang="en-IN" sz="2000" u="none" cap="none" strike="noStrike">
                          <a:solidFill>
                            <a:srgbClr val="000000"/>
                          </a:solidFill>
                          <a:latin typeface="Times New Roman"/>
                          <a:ea typeface="Times New Roman"/>
                          <a:cs typeface="Times New Roman"/>
                          <a:sym typeface="Times New Roman"/>
                        </a:rPr>
                        <a:t>Title of the paper</a:t>
                      </a:r>
                      <a:endParaRPr i="1" sz="2000" u="none" cap="none" strike="noStrike">
                        <a:latin typeface="Times New Roman"/>
                        <a:ea typeface="Times New Roman"/>
                        <a:cs typeface="Times New Roman"/>
                        <a:sym typeface="Times New Roman"/>
                      </a:endParaRPr>
                    </a:p>
                  </a:txBody>
                  <a:tcPr marT="45725" marB="45725" marR="91450" marL="91450" anchor="ctr">
                    <a:solidFill>
                      <a:schemeClr val="accent1"/>
                    </a:solidFill>
                  </a:tcPr>
                </a:tc>
                <a:tc>
                  <a:txBody>
                    <a:bodyPr/>
                    <a:lstStyle/>
                    <a:p>
                      <a:pPr indent="0" lvl="0" marL="0" marR="0" rtl="0" algn="ctr">
                        <a:spcBef>
                          <a:spcPts val="0"/>
                        </a:spcBef>
                        <a:spcAft>
                          <a:spcPts val="0"/>
                        </a:spcAft>
                        <a:buClr>
                          <a:srgbClr val="000000"/>
                        </a:buClr>
                        <a:buFont typeface="Arial"/>
                        <a:buNone/>
                      </a:pPr>
                      <a:r>
                        <a:rPr i="1" lang="en-IN" sz="2000" u="none" cap="none" strike="noStrike">
                          <a:solidFill>
                            <a:srgbClr val="000000"/>
                          </a:solidFill>
                          <a:latin typeface="Times New Roman"/>
                          <a:ea typeface="Times New Roman"/>
                          <a:cs typeface="Times New Roman"/>
                          <a:sym typeface="Times New Roman"/>
                        </a:rPr>
                        <a:t>Outcome</a:t>
                      </a:r>
                      <a:endParaRPr i="1" sz="2000" u="none" cap="none" strike="noStrike">
                        <a:solidFill>
                          <a:srgbClr val="000000"/>
                        </a:solidFill>
                        <a:latin typeface="Times New Roman"/>
                        <a:ea typeface="Times New Roman"/>
                        <a:cs typeface="Times New Roman"/>
                        <a:sym typeface="Times New Roman"/>
                      </a:endParaRPr>
                    </a:p>
                  </a:txBody>
                  <a:tcPr marT="45725" marB="45725" marR="91450" marL="91450" anchor="ctr">
                    <a:solidFill>
                      <a:schemeClr val="accent1"/>
                    </a:solidFill>
                  </a:tcPr>
                </a:tc>
              </a:tr>
              <a:tr h="1262625">
                <a:tc>
                  <a:txBody>
                    <a:bodyPr/>
                    <a:lstStyle/>
                    <a:p>
                      <a:pPr indent="0" lvl="0" marL="0" marR="0" rtl="0" algn="ctr">
                        <a:spcBef>
                          <a:spcPts val="0"/>
                        </a:spcBef>
                        <a:spcAft>
                          <a:spcPts val="0"/>
                        </a:spcAft>
                        <a:buNone/>
                      </a:pPr>
                      <a:r>
                        <a:rPr lang="en-IN">
                          <a:latin typeface="Times New Roman"/>
                          <a:ea typeface="Times New Roman"/>
                          <a:cs typeface="Times New Roman"/>
                          <a:sym typeface="Times New Roman"/>
                        </a:rPr>
                        <a:t>1</a:t>
                      </a:r>
                      <a:endParaRPr>
                        <a:latin typeface="Times New Roman"/>
                        <a:ea typeface="Times New Roman"/>
                        <a:cs typeface="Times New Roman"/>
                        <a:sym typeface="Times New Roman"/>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a:latin typeface="Times New Roman"/>
                          <a:ea typeface="Times New Roman"/>
                          <a:cs typeface="Times New Roman"/>
                          <a:sym typeface="Times New Roman"/>
                        </a:rPr>
                        <a:t>Singh et al., International Journal of Machine Learning, 2022</a:t>
                      </a:r>
                      <a:endParaRPr>
                        <a:latin typeface="Times New Roman"/>
                        <a:ea typeface="Times New Roman"/>
                        <a:cs typeface="Times New Roman"/>
                        <a:sym typeface="Times New Roman"/>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a:latin typeface="Times New Roman"/>
                          <a:ea typeface="Times New Roman"/>
                          <a:cs typeface="Times New Roman"/>
                          <a:sym typeface="Times New Roman"/>
                        </a:rPr>
                        <a:t>"Handwritten Text Recognition Using CNNs"</a:t>
                      </a:r>
                      <a:endParaRPr>
                        <a:latin typeface="Times New Roman"/>
                        <a:ea typeface="Times New Roman"/>
                        <a:cs typeface="Times New Roman"/>
                        <a:sym typeface="Times New Roman"/>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a:latin typeface="Times New Roman"/>
                          <a:ea typeface="Times New Roman"/>
                          <a:cs typeface="Times New Roman"/>
                          <a:sym typeface="Times New Roman"/>
                        </a:rPr>
                        <a:t>Proposed a CNN-based model for HTR; demonstrated improved accuracy over traditional OCR methods.</a:t>
                      </a:r>
                      <a:endParaRPr>
                        <a:latin typeface="Times New Roman"/>
                        <a:ea typeface="Times New Roman"/>
                        <a:cs typeface="Times New Roman"/>
                        <a:sym typeface="Times New Roman"/>
                      </a:endParaRPr>
                    </a:p>
                  </a:txBody>
                  <a:tcPr marT="45725" marB="45725" marR="91450" marL="91450" anchor="ctr"/>
                </a:tc>
              </a:tr>
              <a:tr h="1495225">
                <a:tc>
                  <a:txBody>
                    <a:bodyPr/>
                    <a:lstStyle/>
                    <a:p>
                      <a:pPr indent="0" lvl="0" marL="0" marR="0" rtl="0" algn="ctr">
                        <a:spcBef>
                          <a:spcPts val="0"/>
                        </a:spcBef>
                        <a:spcAft>
                          <a:spcPts val="0"/>
                        </a:spcAft>
                        <a:buNone/>
                      </a:pPr>
                      <a:r>
                        <a:rPr lang="en-IN">
                          <a:latin typeface="Times New Roman"/>
                          <a:ea typeface="Times New Roman"/>
                          <a:cs typeface="Times New Roman"/>
                          <a:sym typeface="Times New Roman"/>
                        </a:rPr>
                        <a:t>2</a:t>
                      </a:r>
                      <a:endParaRPr>
                        <a:latin typeface="Times New Roman"/>
                        <a:ea typeface="Times New Roman"/>
                        <a:cs typeface="Times New Roman"/>
                        <a:sym typeface="Times New Roman"/>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a:latin typeface="Times New Roman"/>
                          <a:ea typeface="Times New Roman"/>
                          <a:cs typeface="Times New Roman"/>
                          <a:sym typeface="Times New Roman"/>
                        </a:rPr>
                        <a:t>Lee &amp; Kumar, Journal of Artificial Intelligence, 2021</a:t>
                      </a:r>
                      <a:endParaRPr>
                        <a:latin typeface="Times New Roman"/>
                        <a:ea typeface="Times New Roman"/>
                        <a:cs typeface="Times New Roman"/>
                        <a:sym typeface="Times New Roman"/>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a:latin typeface="Times New Roman"/>
                          <a:ea typeface="Times New Roman"/>
                          <a:cs typeface="Times New Roman"/>
                          <a:sym typeface="Times New Roman"/>
                        </a:rPr>
                        <a:t>"Enhancing Handwritten Text Recognition with RNNs"</a:t>
                      </a:r>
                      <a:endParaRPr>
                        <a:latin typeface="Times New Roman"/>
                        <a:ea typeface="Times New Roman"/>
                        <a:cs typeface="Times New Roman"/>
                        <a:sym typeface="Times New Roman"/>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a:latin typeface="Times New Roman"/>
                          <a:ea typeface="Times New Roman"/>
                          <a:cs typeface="Times New Roman"/>
                          <a:sym typeface="Times New Roman"/>
                        </a:rPr>
                        <a:t>Explored the use of RNNs for sequence-based HTR; achieved better recognition of cursive and variable handwriting styles.</a:t>
                      </a:r>
                      <a:endParaRPr>
                        <a:latin typeface="Times New Roman"/>
                        <a:ea typeface="Times New Roman"/>
                        <a:cs typeface="Times New Roman"/>
                        <a:sym typeface="Times New Roman"/>
                      </a:endParaRPr>
                    </a:p>
                  </a:txBody>
                  <a:tcPr marT="45725" marB="45725" marR="91450" marL="91450" anchor="ctr"/>
                </a:tc>
              </a:tr>
              <a:tr h="1362250">
                <a:tc>
                  <a:txBody>
                    <a:bodyPr/>
                    <a:lstStyle/>
                    <a:p>
                      <a:pPr indent="0" lvl="0" marL="0" marR="0" rtl="0" algn="ctr">
                        <a:spcBef>
                          <a:spcPts val="0"/>
                        </a:spcBef>
                        <a:spcAft>
                          <a:spcPts val="0"/>
                        </a:spcAft>
                        <a:buNone/>
                      </a:pPr>
                      <a:r>
                        <a:rPr lang="en-IN">
                          <a:latin typeface="Times New Roman"/>
                          <a:ea typeface="Times New Roman"/>
                          <a:cs typeface="Times New Roman"/>
                          <a:sym typeface="Times New Roman"/>
                        </a:rPr>
                        <a:t>3</a:t>
                      </a:r>
                      <a:endParaRPr>
                        <a:latin typeface="Times New Roman"/>
                        <a:ea typeface="Times New Roman"/>
                        <a:cs typeface="Times New Roman"/>
                        <a:sym typeface="Times New Roman"/>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a:latin typeface="Times New Roman"/>
                          <a:ea typeface="Times New Roman"/>
                          <a:cs typeface="Times New Roman"/>
                          <a:sym typeface="Times New Roman"/>
                        </a:rPr>
                        <a:t>Zhang et al., Pattern Recognition Letters, 2020</a:t>
                      </a:r>
                      <a:endParaRPr>
                        <a:latin typeface="Times New Roman"/>
                        <a:ea typeface="Times New Roman"/>
                        <a:cs typeface="Times New Roman"/>
                        <a:sym typeface="Times New Roman"/>
                      </a:endParaRPr>
                    </a:p>
                  </a:txBody>
                  <a:tcPr marT="45725" marB="45725" marR="91450" marL="91450" anchor="ctr"/>
                </a:tc>
                <a:tc>
                  <a:txBody>
                    <a:bodyPr/>
                    <a:lstStyle/>
                    <a:p>
                      <a:pPr indent="0" lvl="0" marL="0" marR="0" rtl="0" algn="ctr">
                        <a:lnSpc>
                          <a:spcPct val="100000"/>
                        </a:lnSpc>
                        <a:spcBef>
                          <a:spcPts val="0"/>
                        </a:spcBef>
                        <a:spcAft>
                          <a:spcPts val="0"/>
                        </a:spcAft>
                        <a:buNone/>
                      </a:pPr>
                      <a:r>
                        <a:rPr lang="en-IN">
                          <a:latin typeface="Times New Roman"/>
                          <a:ea typeface="Times New Roman"/>
                          <a:cs typeface="Times New Roman"/>
                          <a:sym typeface="Times New Roman"/>
                        </a:rPr>
                        <a:t>"A Survey of Handwritten Text Recognition Techniques"</a:t>
                      </a:r>
                      <a:endParaRPr>
                        <a:latin typeface="Times New Roman"/>
                        <a:ea typeface="Times New Roman"/>
                        <a:cs typeface="Times New Roman"/>
                        <a:sym typeface="Times New Roman"/>
                      </a:endParaRPr>
                    </a:p>
                  </a:txBody>
                  <a:tcPr marT="45725" marB="45725" marR="91450" marL="91450" anchor="ctr"/>
                </a:tc>
                <a:tc>
                  <a:txBody>
                    <a:bodyPr/>
                    <a:lstStyle/>
                    <a:p>
                      <a:pPr indent="0" lvl="0" marL="0" rtl="0" algn="ctr">
                        <a:lnSpc>
                          <a:spcPct val="100000"/>
                        </a:lnSpc>
                        <a:spcBef>
                          <a:spcPts val="0"/>
                        </a:spcBef>
                        <a:spcAft>
                          <a:spcPts val="0"/>
                        </a:spcAft>
                        <a:buNone/>
                      </a:pPr>
                      <a:r>
                        <a:rPr lang="en-IN">
                          <a:latin typeface="Times New Roman"/>
                          <a:ea typeface="Times New Roman"/>
                          <a:cs typeface="Times New Roman"/>
                          <a:sym typeface="Times New Roman"/>
                        </a:rPr>
                        <a:t>Reviewed state-of-the-art HTR methods; highlighted the challenges in diverse handwriting recognition and suggested future research directions.</a:t>
                      </a:r>
                      <a:endParaRPr>
                        <a:latin typeface="Times New Roman"/>
                        <a:ea typeface="Times New Roman"/>
                        <a:cs typeface="Times New Roman"/>
                        <a:sym typeface="Times New Roman"/>
                      </a:endParaRPr>
                    </a:p>
                  </a:txBody>
                  <a:tcPr marT="91425" marB="91425" marR="91425" marL="91425" anchor="ct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pic>
        <p:nvPicPr>
          <p:cNvPr id="151" name="Google Shape;151;p22"/>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152" name="Google Shape;152;p22"/>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solidFill>
                  <a:srgbClr val="000000"/>
                </a:solidFill>
                <a:latin typeface="Times New Roman"/>
                <a:ea typeface="Times New Roman"/>
                <a:cs typeface="Times New Roman"/>
                <a:sym typeface="Times New Roman"/>
              </a:rPr>
              <a:t>System Architecture</a:t>
            </a:r>
            <a:endParaRPr sz="4400">
              <a:solidFill>
                <a:srgbClr val="000000"/>
              </a:solidFill>
              <a:latin typeface="Times New Roman"/>
              <a:ea typeface="Times New Roman"/>
              <a:cs typeface="Times New Roman"/>
              <a:sym typeface="Times New Roman"/>
            </a:endParaRPr>
          </a:p>
        </p:txBody>
      </p:sp>
      <p:pic>
        <p:nvPicPr>
          <p:cNvPr id="153" name="Google Shape;153;p22"/>
          <p:cNvPicPr preferRelativeResize="0"/>
          <p:nvPr/>
        </p:nvPicPr>
        <p:blipFill rotWithShape="1">
          <a:blip r:embed="rId4">
            <a:alphaModFix/>
          </a:blip>
          <a:srcRect b="7005" l="4869" r="4443" t="5205"/>
          <a:stretch/>
        </p:blipFill>
        <p:spPr>
          <a:xfrm>
            <a:off x="2793938" y="1507525"/>
            <a:ext cx="6306276" cy="49734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pic>
        <p:nvPicPr>
          <p:cNvPr id="158" name="Google Shape;158;p23"/>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159" name="Google Shape;159;p23"/>
          <p:cNvSpPr txBox="1"/>
          <p:nvPr/>
        </p:nvSpPr>
        <p:spPr>
          <a:xfrm>
            <a:off x="1645525" y="315875"/>
            <a:ext cx="92307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solidFill>
                  <a:srgbClr val="000000"/>
                </a:solidFill>
                <a:latin typeface="Times New Roman"/>
                <a:ea typeface="Times New Roman"/>
                <a:cs typeface="Times New Roman"/>
                <a:sym typeface="Times New Roman"/>
              </a:rPr>
              <a:t>UML Diagrams</a:t>
            </a:r>
            <a:endParaRPr sz="4400">
              <a:solidFill>
                <a:srgbClr val="000000"/>
              </a:solidFill>
              <a:latin typeface="Times New Roman"/>
              <a:ea typeface="Times New Roman"/>
              <a:cs typeface="Times New Roman"/>
              <a:sym typeface="Times New Roman"/>
            </a:endParaRPr>
          </a:p>
        </p:txBody>
      </p:sp>
      <p:sp>
        <p:nvSpPr>
          <p:cNvPr id="160" name="Google Shape;160;p23"/>
          <p:cNvSpPr txBox="1"/>
          <p:nvPr/>
        </p:nvSpPr>
        <p:spPr>
          <a:xfrm>
            <a:off x="917500" y="3094650"/>
            <a:ext cx="3607800" cy="8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800">
                <a:solidFill>
                  <a:srgbClr val="000000"/>
                </a:solidFill>
                <a:latin typeface="Times New Roman"/>
                <a:ea typeface="Times New Roman"/>
                <a:cs typeface="Times New Roman"/>
                <a:sym typeface="Times New Roman"/>
              </a:rPr>
              <a:t>Class Diagram : </a:t>
            </a:r>
            <a:endParaRPr sz="2800">
              <a:solidFill>
                <a:srgbClr val="000000"/>
              </a:solidFill>
              <a:latin typeface="Times New Roman"/>
              <a:ea typeface="Times New Roman"/>
              <a:cs typeface="Times New Roman"/>
              <a:sym typeface="Times New Roman"/>
            </a:endParaRPr>
          </a:p>
        </p:txBody>
      </p:sp>
      <p:pic>
        <p:nvPicPr>
          <p:cNvPr id="161" name="Google Shape;161;p23"/>
          <p:cNvPicPr preferRelativeResize="0"/>
          <p:nvPr/>
        </p:nvPicPr>
        <p:blipFill rotWithShape="1">
          <a:blip r:embed="rId4">
            <a:alphaModFix/>
          </a:blip>
          <a:srcRect b="5905" l="12308" r="8073" t="4215"/>
          <a:stretch/>
        </p:blipFill>
        <p:spPr>
          <a:xfrm>
            <a:off x="4320750" y="1566000"/>
            <a:ext cx="3550499" cy="520634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4"/>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167" name="Google Shape;167;p24"/>
          <p:cNvSpPr txBox="1"/>
          <p:nvPr/>
        </p:nvSpPr>
        <p:spPr>
          <a:xfrm>
            <a:off x="1645525" y="315875"/>
            <a:ext cx="92307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solidFill>
                  <a:srgbClr val="000000"/>
                </a:solidFill>
                <a:latin typeface="Times New Roman"/>
                <a:ea typeface="Times New Roman"/>
                <a:cs typeface="Times New Roman"/>
                <a:sym typeface="Times New Roman"/>
              </a:rPr>
              <a:t>UML Diagrams</a:t>
            </a:r>
            <a:endParaRPr sz="4400">
              <a:solidFill>
                <a:srgbClr val="000000"/>
              </a:solidFill>
              <a:latin typeface="Times New Roman"/>
              <a:ea typeface="Times New Roman"/>
              <a:cs typeface="Times New Roman"/>
              <a:sym typeface="Times New Roman"/>
            </a:endParaRPr>
          </a:p>
        </p:txBody>
      </p:sp>
      <p:sp>
        <p:nvSpPr>
          <p:cNvPr id="168" name="Google Shape;168;p24"/>
          <p:cNvSpPr txBox="1"/>
          <p:nvPr/>
        </p:nvSpPr>
        <p:spPr>
          <a:xfrm>
            <a:off x="622050" y="3094650"/>
            <a:ext cx="3903300" cy="8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800">
                <a:solidFill>
                  <a:srgbClr val="000000"/>
                </a:solidFill>
                <a:latin typeface="Times New Roman"/>
                <a:ea typeface="Times New Roman"/>
                <a:cs typeface="Times New Roman"/>
                <a:sym typeface="Times New Roman"/>
              </a:rPr>
              <a:t>Use Case Diagram : </a:t>
            </a:r>
            <a:endParaRPr sz="2800">
              <a:solidFill>
                <a:srgbClr val="000000"/>
              </a:solidFill>
              <a:latin typeface="Times New Roman"/>
              <a:ea typeface="Times New Roman"/>
              <a:cs typeface="Times New Roman"/>
              <a:sym typeface="Times New Roman"/>
            </a:endParaRPr>
          </a:p>
        </p:txBody>
      </p:sp>
      <p:pic>
        <p:nvPicPr>
          <p:cNvPr id="169" name="Google Shape;169;p24"/>
          <p:cNvPicPr preferRelativeResize="0"/>
          <p:nvPr/>
        </p:nvPicPr>
        <p:blipFill>
          <a:blip r:embed="rId4">
            <a:alphaModFix/>
          </a:blip>
          <a:stretch>
            <a:fillRect/>
          </a:stretch>
        </p:blipFill>
        <p:spPr>
          <a:xfrm>
            <a:off x="4124250" y="1641575"/>
            <a:ext cx="6090416" cy="491162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pic>
        <p:nvPicPr>
          <p:cNvPr id="174" name="Google Shape;174;p25"/>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175" name="Google Shape;175;p25"/>
          <p:cNvSpPr txBox="1"/>
          <p:nvPr/>
        </p:nvSpPr>
        <p:spPr>
          <a:xfrm>
            <a:off x="1645525" y="315875"/>
            <a:ext cx="92307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solidFill>
                  <a:srgbClr val="000000"/>
                </a:solidFill>
                <a:latin typeface="Times New Roman"/>
                <a:ea typeface="Times New Roman"/>
                <a:cs typeface="Times New Roman"/>
                <a:sym typeface="Times New Roman"/>
              </a:rPr>
              <a:t>UML Diagrams</a:t>
            </a:r>
            <a:endParaRPr sz="4400">
              <a:solidFill>
                <a:srgbClr val="000000"/>
              </a:solidFill>
              <a:latin typeface="Times New Roman"/>
              <a:ea typeface="Times New Roman"/>
              <a:cs typeface="Times New Roman"/>
              <a:sym typeface="Times New Roman"/>
            </a:endParaRPr>
          </a:p>
        </p:txBody>
      </p:sp>
      <p:sp>
        <p:nvSpPr>
          <p:cNvPr id="176" name="Google Shape;176;p25"/>
          <p:cNvSpPr txBox="1"/>
          <p:nvPr/>
        </p:nvSpPr>
        <p:spPr>
          <a:xfrm>
            <a:off x="917500" y="3094650"/>
            <a:ext cx="3607800" cy="8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800">
                <a:solidFill>
                  <a:srgbClr val="000000"/>
                </a:solidFill>
                <a:latin typeface="Times New Roman"/>
                <a:ea typeface="Times New Roman"/>
                <a:cs typeface="Times New Roman"/>
                <a:sym typeface="Times New Roman"/>
              </a:rPr>
              <a:t>Activity Diagram : </a:t>
            </a:r>
            <a:endParaRPr sz="2800">
              <a:solidFill>
                <a:srgbClr val="000000"/>
              </a:solidFill>
              <a:latin typeface="Times New Roman"/>
              <a:ea typeface="Times New Roman"/>
              <a:cs typeface="Times New Roman"/>
              <a:sym typeface="Times New Roman"/>
            </a:endParaRPr>
          </a:p>
        </p:txBody>
      </p:sp>
      <p:pic>
        <p:nvPicPr>
          <p:cNvPr id="177" name="Google Shape;177;p25"/>
          <p:cNvPicPr preferRelativeResize="0"/>
          <p:nvPr/>
        </p:nvPicPr>
        <p:blipFill rotWithShape="1">
          <a:blip r:embed="rId4">
            <a:alphaModFix/>
          </a:blip>
          <a:srcRect b="6732" l="7048" r="6364" t="3982"/>
          <a:stretch/>
        </p:blipFill>
        <p:spPr>
          <a:xfrm>
            <a:off x="3976500" y="1641575"/>
            <a:ext cx="4238999" cy="465749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pic>
        <p:nvPicPr>
          <p:cNvPr id="182" name="Google Shape;182;p26"/>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183" name="Google Shape;183;p26"/>
          <p:cNvSpPr txBox="1"/>
          <p:nvPr/>
        </p:nvSpPr>
        <p:spPr>
          <a:xfrm>
            <a:off x="1645525" y="315875"/>
            <a:ext cx="92307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solidFill>
                  <a:srgbClr val="000000"/>
                </a:solidFill>
                <a:latin typeface="Times New Roman"/>
                <a:ea typeface="Times New Roman"/>
                <a:cs typeface="Times New Roman"/>
                <a:sym typeface="Times New Roman"/>
              </a:rPr>
              <a:t>UML Diagrams</a:t>
            </a:r>
            <a:endParaRPr sz="4400">
              <a:solidFill>
                <a:srgbClr val="000000"/>
              </a:solidFill>
              <a:latin typeface="Times New Roman"/>
              <a:ea typeface="Times New Roman"/>
              <a:cs typeface="Times New Roman"/>
              <a:sym typeface="Times New Roman"/>
            </a:endParaRPr>
          </a:p>
        </p:txBody>
      </p:sp>
      <p:sp>
        <p:nvSpPr>
          <p:cNvPr id="184" name="Google Shape;184;p26"/>
          <p:cNvSpPr txBox="1"/>
          <p:nvPr/>
        </p:nvSpPr>
        <p:spPr>
          <a:xfrm>
            <a:off x="602150" y="3140750"/>
            <a:ext cx="3887700" cy="87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IN" sz="2800">
                <a:solidFill>
                  <a:srgbClr val="000000"/>
                </a:solidFill>
                <a:latin typeface="Times New Roman"/>
                <a:ea typeface="Times New Roman"/>
                <a:cs typeface="Times New Roman"/>
                <a:sym typeface="Times New Roman"/>
              </a:rPr>
              <a:t>Sequence Diagram : </a:t>
            </a:r>
            <a:endParaRPr sz="2800">
              <a:solidFill>
                <a:srgbClr val="000000"/>
              </a:solidFill>
              <a:latin typeface="Times New Roman"/>
              <a:ea typeface="Times New Roman"/>
              <a:cs typeface="Times New Roman"/>
              <a:sym typeface="Times New Roman"/>
            </a:endParaRPr>
          </a:p>
        </p:txBody>
      </p:sp>
      <p:pic>
        <p:nvPicPr>
          <p:cNvPr id="185" name="Google Shape;185;p26"/>
          <p:cNvPicPr preferRelativeResize="0"/>
          <p:nvPr/>
        </p:nvPicPr>
        <p:blipFill rotWithShape="1">
          <a:blip r:embed="rId4">
            <a:alphaModFix/>
          </a:blip>
          <a:srcRect b="7264" l="3326" r="2449" t="6155"/>
          <a:stretch/>
        </p:blipFill>
        <p:spPr>
          <a:xfrm>
            <a:off x="3793500" y="1641575"/>
            <a:ext cx="6480001" cy="46671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id="190" name="Google Shape;190;p27"/>
          <p:cNvPicPr preferRelativeResize="0"/>
          <p:nvPr/>
        </p:nvPicPr>
        <p:blipFill>
          <a:blip r:embed="rId3">
            <a:alphaModFix/>
          </a:blip>
          <a:stretch>
            <a:fillRect/>
          </a:stretch>
        </p:blipFill>
        <p:spPr>
          <a:xfrm>
            <a:off x="8973550" y="4372450"/>
            <a:ext cx="2793775" cy="1859125"/>
          </a:xfrm>
          <a:prstGeom prst="rect">
            <a:avLst/>
          </a:prstGeom>
          <a:noFill/>
          <a:ln>
            <a:noFill/>
          </a:ln>
        </p:spPr>
      </p:pic>
      <p:pic>
        <p:nvPicPr>
          <p:cNvPr id="191" name="Google Shape;191;p27"/>
          <p:cNvPicPr preferRelativeResize="0"/>
          <p:nvPr/>
        </p:nvPicPr>
        <p:blipFill rotWithShape="1">
          <a:blip r:embed="rId4">
            <a:alphaModFix/>
          </a:blip>
          <a:srcRect b="0" l="0" r="0" t="0"/>
          <a:stretch/>
        </p:blipFill>
        <p:spPr>
          <a:xfrm>
            <a:off x="375500" y="430225"/>
            <a:ext cx="1141950" cy="1077300"/>
          </a:xfrm>
          <a:prstGeom prst="rect">
            <a:avLst/>
          </a:prstGeom>
          <a:noFill/>
          <a:ln>
            <a:noFill/>
          </a:ln>
        </p:spPr>
      </p:pic>
      <p:sp>
        <p:nvSpPr>
          <p:cNvPr id="192" name="Google Shape;192;p27"/>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solidFill>
                  <a:srgbClr val="000000"/>
                </a:solidFill>
                <a:latin typeface="Times New Roman"/>
                <a:ea typeface="Times New Roman"/>
                <a:cs typeface="Times New Roman"/>
                <a:sym typeface="Times New Roman"/>
              </a:rPr>
              <a:t>Technologies</a:t>
            </a:r>
            <a:endParaRPr sz="4400">
              <a:solidFill>
                <a:srgbClr val="000000"/>
              </a:solidFill>
              <a:latin typeface="Times New Roman"/>
              <a:ea typeface="Times New Roman"/>
              <a:cs typeface="Times New Roman"/>
              <a:sym typeface="Times New Roman"/>
            </a:endParaRPr>
          </a:p>
        </p:txBody>
      </p:sp>
      <p:sp>
        <p:nvSpPr>
          <p:cNvPr id="193" name="Google Shape;193;p27"/>
          <p:cNvSpPr txBox="1"/>
          <p:nvPr/>
        </p:nvSpPr>
        <p:spPr>
          <a:xfrm>
            <a:off x="946550" y="1786425"/>
            <a:ext cx="8201400" cy="46431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1200"/>
              </a:spcBef>
              <a:spcAft>
                <a:spcPts val="0"/>
              </a:spcAft>
              <a:buClr>
                <a:srgbClr val="000000"/>
              </a:buClr>
              <a:buSzPts val="2200"/>
              <a:buChar char="❖"/>
            </a:pPr>
            <a:r>
              <a:rPr b="1" lang="en-IN" sz="2200"/>
              <a:t>Python </a:t>
            </a:r>
            <a:r>
              <a:rPr b="1" lang="en-IN" sz="2200">
                <a:solidFill>
                  <a:srgbClr val="000000"/>
                </a:solidFill>
              </a:rPr>
              <a:t>:</a:t>
            </a:r>
            <a:r>
              <a:rPr lang="en-IN" sz="2200">
                <a:solidFill>
                  <a:srgbClr val="000000"/>
                </a:solidFill>
              </a:rPr>
              <a:t> </a:t>
            </a:r>
            <a:endParaRPr sz="2200">
              <a:solidFill>
                <a:srgbClr val="000000"/>
              </a:solidFill>
            </a:endParaRPr>
          </a:p>
          <a:p>
            <a:pPr indent="0" lvl="0" marL="457200" rtl="0" algn="l">
              <a:lnSpc>
                <a:spcPct val="115000"/>
              </a:lnSpc>
              <a:spcBef>
                <a:spcPts val="1200"/>
              </a:spcBef>
              <a:spcAft>
                <a:spcPts val="0"/>
              </a:spcAft>
              <a:buNone/>
            </a:pPr>
            <a:r>
              <a:rPr lang="en-IN" sz="1800">
                <a:solidFill>
                  <a:schemeClr val="dk1"/>
                </a:solidFill>
              </a:rPr>
              <a:t>Python is widely used in Machine Learning (ML) and Image Processing due to its simplicity, versatility, and extensive libraries like TensorFlow, OpenCV, and PIL. It offers a rich ecosystem for handling data, training models, and integrating OCR tools efficiently.</a:t>
            </a:r>
            <a:endParaRPr sz="2900">
              <a:solidFill>
                <a:srgbClr val="000000"/>
              </a:solidFill>
            </a:endParaRPr>
          </a:p>
          <a:p>
            <a:pPr indent="0" lvl="0" marL="0" rtl="0" algn="l">
              <a:lnSpc>
                <a:spcPct val="115000"/>
              </a:lnSpc>
              <a:spcBef>
                <a:spcPts val="1200"/>
              </a:spcBef>
              <a:spcAft>
                <a:spcPts val="0"/>
              </a:spcAft>
              <a:buNone/>
            </a:pPr>
            <a:r>
              <a:t/>
            </a:r>
            <a:endParaRPr sz="1000">
              <a:solidFill>
                <a:srgbClr val="000000"/>
              </a:solidFill>
            </a:endParaRPr>
          </a:p>
          <a:p>
            <a:pPr indent="-368300" lvl="0" marL="457200" rtl="0" algn="l">
              <a:lnSpc>
                <a:spcPct val="115000"/>
              </a:lnSpc>
              <a:spcBef>
                <a:spcPts val="1200"/>
              </a:spcBef>
              <a:spcAft>
                <a:spcPts val="0"/>
              </a:spcAft>
              <a:buClr>
                <a:srgbClr val="000000"/>
              </a:buClr>
              <a:buSzPts val="2200"/>
              <a:buChar char="❖"/>
            </a:pPr>
            <a:r>
              <a:rPr b="1" lang="en-IN" sz="2200"/>
              <a:t>Tensorflow </a:t>
            </a:r>
            <a:r>
              <a:rPr b="1" lang="en-IN" sz="2200"/>
              <a:t>/ Py Torch</a:t>
            </a:r>
            <a:r>
              <a:rPr b="1" lang="en-IN" sz="2200">
                <a:solidFill>
                  <a:srgbClr val="000000"/>
                </a:solidFill>
              </a:rPr>
              <a:t>:</a:t>
            </a:r>
            <a:r>
              <a:rPr lang="en-IN" sz="2200">
                <a:solidFill>
                  <a:srgbClr val="000000"/>
                </a:solidFill>
              </a:rPr>
              <a:t> </a:t>
            </a:r>
            <a:endParaRPr sz="2200">
              <a:solidFill>
                <a:srgbClr val="000000"/>
              </a:solidFill>
            </a:endParaRPr>
          </a:p>
          <a:p>
            <a:pPr indent="0" lvl="0" marL="457200" rtl="0" algn="l">
              <a:lnSpc>
                <a:spcPct val="115000"/>
              </a:lnSpc>
              <a:spcBef>
                <a:spcPts val="1200"/>
              </a:spcBef>
              <a:spcAft>
                <a:spcPts val="0"/>
              </a:spcAft>
              <a:buNone/>
            </a:pPr>
            <a:r>
              <a:rPr lang="en-IN" sz="1800">
                <a:solidFill>
                  <a:schemeClr val="dk1"/>
                </a:solidFill>
              </a:rPr>
              <a:t>TensorFlow/PyTorch are powerful frameworks used to build and train deep learning models for accurate handwritten text recognition.</a:t>
            </a:r>
            <a:endParaRPr sz="2900">
              <a:solidFill>
                <a:srgbClr val="000000"/>
              </a:solidFill>
            </a:endParaRPr>
          </a:p>
          <a:p>
            <a:pPr indent="0" lvl="0" marL="0" rtl="0" algn="l">
              <a:lnSpc>
                <a:spcPct val="115000"/>
              </a:lnSpc>
              <a:spcBef>
                <a:spcPts val="1200"/>
              </a:spcBef>
              <a:spcAft>
                <a:spcPts val="0"/>
              </a:spcAft>
              <a:buNone/>
            </a:pPr>
            <a:r>
              <a:t/>
            </a:r>
            <a:endParaRPr sz="2200">
              <a:solidFill>
                <a:srgbClr val="000000"/>
              </a:solidFill>
            </a:endParaRPr>
          </a:p>
          <a:p>
            <a:pPr indent="0" lvl="0" marL="0" rtl="0" algn="l">
              <a:spcBef>
                <a:spcPts val="1200"/>
              </a:spcBef>
              <a:spcAft>
                <a:spcPts val="0"/>
              </a:spcAft>
              <a:buNone/>
            </a:pPr>
            <a:r>
              <a:t/>
            </a:r>
            <a:endParaRPr sz="2000">
              <a:solidFill>
                <a:srgbClr val="000000"/>
              </a:solidFill>
              <a:latin typeface="Times New Roman"/>
              <a:ea typeface="Times New Roman"/>
              <a:cs typeface="Times New Roman"/>
              <a:sym typeface="Times New Roman"/>
            </a:endParaRPr>
          </a:p>
        </p:txBody>
      </p:sp>
      <p:pic>
        <p:nvPicPr>
          <p:cNvPr id="194" name="Google Shape;194;p27"/>
          <p:cNvPicPr preferRelativeResize="0"/>
          <p:nvPr/>
        </p:nvPicPr>
        <p:blipFill rotWithShape="1">
          <a:blip r:embed="rId5">
            <a:alphaModFix/>
          </a:blip>
          <a:srcRect b="-4525" l="0" r="5168" t="0"/>
          <a:stretch/>
        </p:blipFill>
        <p:spPr>
          <a:xfrm>
            <a:off x="9480050" y="2055400"/>
            <a:ext cx="1780776" cy="215415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id="199" name="Google Shape;199;p28"/>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200" name="Google Shape;200;p28"/>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solidFill>
                  <a:srgbClr val="000000"/>
                </a:solidFill>
                <a:latin typeface="Times New Roman"/>
                <a:ea typeface="Times New Roman"/>
                <a:cs typeface="Times New Roman"/>
                <a:sym typeface="Times New Roman"/>
              </a:rPr>
              <a:t>Technologies</a:t>
            </a:r>
            <a:endParaRPr sz="4400">
              <a:solidFill>
                <a:srgbClr val="000000"/>
              </a:solidFill>
              <a:latin typeface="Times New Roman"/>
              <a:ea typeface="Times New Roman"/>
              <a:cs typeface="Times New Roman"/>
              <a:sym typeface="Times New Roman"/>
            </a:endParaRPr>
          </a:p>
        </p:txBody>
      </p:sp>
      <p:sp>
        <p:nvSpPr>
          <p:cNvPr id="201" name="Google Shape;201;p28"/>
          <p:cNvSpPr txBox="1"/>
          <p:nvPr/>
        </p:nvSpPr>
        <p:spPr>
          <a:xfrm>
            <a:off x="946550" y="1822400"/>
            <a:ext cx="7429500" cy="46068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1200"/>
              </a:spcBef>
              <a:spcAft>
                <a:spcPts val="0"/>
              </a:spcAft>
              <a:buClr>
                <a:srgbClr val="000000"/>
              </a:buClr>
              <a:buSzPts val="2200"/>
              <a:buChar char="❖"/>
            </a:pPr>
            <a:r>
              <a:rPr b="1" lang="en-IN" sz="2200"/>
              <a:t>OCR Tools</a:t>
            </a:r>
            <a:r>
              <a:rPr b="1" lang="en-IN" sz="2200">
                <a:solidFill>
                  <a:srgbClr val="000000"/>
                </a:solidFill>
              </a:rPr>
              <a:t> :</a:t>
            </a:r>
            <a:r>
              <a:rPr lang="en-IN" sz="2200">
                <a:solidFill>
                  <a:srgbClr val="000000"/>
                </a:solidFill>
              </a:rPr>
              <a:t> </a:t>
            </a:r>
            <a:endParaRPr b="1" sz="1100">
              <a:solidFill>
                <a:schemeClr val="dk1"/>
              </a:solidFill>
            </a:endParaRPr>
          </a:p>
          <a:p>
            <a:pPr indent="-323850" lvl="0" marL="457200" rtl="0" algn="l">
              <a:lnSpc>
                <a:spcPct val="115000"/>
              </a:lnSpc>
              <a:spcBef>
                <a:spcPts val="1000"/>
              </a:spcBef>
              <a:spcAft>
                <a:spcPts val="0"/>
              </a:spcAft>
              <a:buSzPts val="1500"/>
              <a:buChar char="●"/>
            </a:pPr>
            <a:r>
              <a:rPr b="1" lang="en-IN" sz="1800"/>
              <a:t>Tesseract OCR</a:t>
            </a:r>
            <a:r>
              <a:rPr lang="en-IN" sz="1800"/>
              <a:t> - An open-source OCR engine capable of recognizing various scripts.</a:t>
            </a:r>
            <a:endParaRPr sz="1800"/>
          </a:p>
          <a:p>
            <a:pPr indent="-323850" lvl="0" marL="457200" rtl="0" algn="l">
              <a:lnSpc>
                <a:spcPct val="115000"/>
              </a:lnSpc>
              <a:spcBef>
                <a:spcPts val="1000"/>
              </a:spcBef>
              <a:spcAft>
                <a:spcPts val="0"/>
              </a:spcAft>
              <a:buSzPts val="1500"/>
              <a:buChar char="●"/>
            </a:pPr>
            <a:r>
              <a:rPr b="1" lang="en-IN" sz="1800"/>
              <a:t>EasyOCR </a:t>
            </a:r>
            <a:r>
              <a:rPr lang="en-IN" sz="1800"/>
              <a:t>- A deep learning-based OCR tool that supports multiple languages, including English</a:t>
            </a:r>
            <a:r>
              <a:rPr lang="en-IN"/>
              <a:t>.</a:t>
            </a:r>
            <a:endParaRPr/>
          </a:p>
          <a:p>
            <a:pPr indent="0" lvl="0" marL="914400" rtl="0" algn="l">
              <a:lnSpc>
                <a:spcPct val="115000"/>
              </a:lnSpc>
              <a:spcBef>
                <a:spcPts val="1000"/>
              </a:spcBef>
              <a:spcAft>
                <a:spcPts val="0"/>
              </a:spcAft>
              <a:buNone/>
            </a:pPr>
            <a:r>
              <a:t/>
            </a:r>
            <a:endParaRPr/>
          </a:p>
          <a:p>
            <a:pPr indent="-368300" lvl="0" marL="457200" rtl="0" algn="l">
              <a:lnSpc>
                <a:spcPct val="115000"/>
              </a:lnSpc>
              <a:spcBef>
                <a:spcPts val="1200"/>
              </a:spcBef>
              <a:spcAft>
                <a:spcPts val="0"/>
              </a:spcAft>
              <a:buClr>
                <a:srgbClr val="000000"/>
              </a:buClr>
              <a:buSzPts val="2200"/>
              <a:buChar char="❖"/>
            </a:pPr>
            <a:r>
              <a:rPr b="1" lang="en-IN" sz="2200">
                <a:solidFill>
                  <a:schemeClr val="dk1"/>
                </a:solidFill>
              </a:rPr>
              <a:t>Image Processing Libraries</a:t>
            </a:r>
            <a:r>
              <a:rPr b="1" lang="en-IN" sz="2200">
                <a:solidFill>
                  <a:srgbClr val="000000"/>
                </a:solidFill>
              </a:rPr>
              <a:t> :</a:t>
            </a:r>
            <a:r>
              <a:rPr lang="en-IN" sz="2200">
                <a:solidFill>
                  <a:srgbClr val="000000"/>
                </a:solidFill>
              </a:rPr>
              <a:t> </a:t>
            </a:r>
            <a:endParaRPr/>
          </a:p>
          <a:p>
            <a:pPr indent="-342900" lvl="0" marL="457200" rtl="0" algn="l">
              <a:lnSpc>
                <a:spcPct val="115000"/>
              </a:lnSpc>
              <a:spcBef>
                <a:spcPts val="1000"/>
              </a:spcBef>
              <a:spcAft>
                <a:spcPts val="0"/>
              </a:spcAft>
              <a:buSzPts val="1800"/>
              <a:buChar char="●"/>
            </a:pPr>
            <a:r>
              <a:rPr b="1" lang="en-IN" sz="1800"/>
              <a:t>OpenCV</a:t>
            </a:r>
            <a:r>
              <a:rPr lang="en-IN" sz="1800"/>
              <a:t> - Used for preprocessing images (grayscale conversion, thresholding, noise removal).</a:t>
            </a:r>
            <a:endParaRPr sz="1800"/>
          </a:p>
          <a:p>
            <a:pPr indent="-342900" lvl="0" marL="457200" rtl="0" algn="l">
              <a:lnSpc>
                <a:spcPct val="115000"/>
              </a:lnSpc>
              <a:spcBef>
                <a:spcPts val="1000"/>
              </a:spcBef>
              <a:spcAft>
                <a:spcPts val="0"/>
              </a:spcAft>
              <a:buSzPts val="1800"/>
              <a:buChar char="●"/>
            </a:pPr>
            <a:r>
              <a:rPr b="1" lang="en-IN" sz="1800"/>
              <a:t>PIL (Pillow) </a:t>
            </a:r>
            <a:r>
              <a:rPr lang="en-IN" sz="1800"/>
              <a:t>- Handles image resizing, format conversions, and enhancements.</a:t>
            </a:r>
            <a:endParaRPr sz="1500">
              <a:solidFill>
                <a:schemeClr val="dk1"/>
              </a:solidFill>
            </a:endParaRPr>
          </a:p>
          <a:p>
            <a:pPr indent="0" lvl="0" marL="0" rtl="0" algn="l">
              <a:lnSpc>
                <a:spcPct val="115000"/>
              </a:lnSpc>
              <a:spcBef>
                <a:spcPts val="1200"/>
              </a:spcBef>
              <a:spcAft>
                <a:spcPts val="0"/>
              </a:spcAft>
              <a:buNone/>
            </a:pPr>
            <a:r>
              <a:t/>
            </a:r>
            <a:endParaRPr sz="2200"/>
          </a:p>
          <a:p>
            <a:pPr indent="0" lvl="0" marL="0" rtl="0" algn="l">
              <a:spcBef>
                <a:spcPts val="1200"/>
              </a:spcBef>
              <a:spcAft>
                <a:spcPts val="0"/>
              </a:spcAft>
              <a:buNone/>
            </a:pPr>
            <a:r>
              <a:t/>
            </a:r>
            <a:endParaRPr sz="2000">
              <a:solidFill>
                <a:srgbClr val="000000"/>
              </a:solidFill>
              <a:latin typeface="Times New Roman"/>
              <a:ea typeface="Times New Roman"/>
              <a:cs typeface="Times New Roman"/>
              <a:sym typeface="Times New Roman"/>
            </a:endParaRPr>
          </a:p>
        </p:txBody>
      </p:sp>
      <p:pic>
        <p:nvPicPr>
          <p:cNvPr id="202" name="Google Shape;202;p28"/>
          <p:cNvPicPr preferRelativeResize="0"/>
          <p:nvPr/>
        </p:nvPicPr>
        <p:blipFill rotWithShape="1">
          <a:blip r:embed="rId4">
            <a:alphaModFix/>
          </a:blip>
          <a:srcRect b="2591" l="1999" r="0" t="0"/>
          <a:stretch/>
        </p:blipFill>
        <p:spPr>
          <a:xfrm>
            <a:off x="8376050" y="1507525"/>
            <a:ext cx="3529524" cy="2806524"/>
          </a:xfrm>
          <a:prstGeom prst="rect">
            <a:avLst/>
          </a:prstGeom>
          <a:noFill/>
          <a:ln>
            <a:noFill/>
          </a:ln>
        </p:spPr>
      </p:pic>
      <p:pic>
        <p:nvPicPr>
          <p:cNvPr id="203" name="Google Shape;203;p28"/>
          <p:cNvPicPr preferRelativeResize="0"/>
          <p:nvPr/>
        </p:nvPicPr>
        <p:blipFill>
          <a:blip r:embed="rId5">
            <a:alphaModFix/>
          </a:blip>
          <a:stretch>
            <a:fillRect/>
          </a:stretch>
        </p:blipFill>
        <p:spPr>
          <a:xfrm>
            <a:off x="8729422" y="4314050"/>
            <a:ext cx="2970850" cy="1856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29"/>
          <p:cNvPicPr preferRelativeResize="0"/>
          <p:nvPr/>
        </p:nvPicPr>
        <p:blipFill>
          <a:blip r:embed="rId3">
            <a:alphaModFix/>
          </a:blip>
          <a:stretch>
            <a:fillRect/>
          </a:stretch>
        </p:blipFill>
        <p:spPr>
          <a:xfrm>
            <a:off x="8639489" y="4081450"/>
            <a:ext cx="3415711" cy="2273000"/>
          </a:xfrm>
          <a:prstGeom prst="rect">
            <a:avLst/>
          </a:prstGeom>
          <a:noFill/>
          <a:ln>
            <a:noFill/>
          </a:ln>
        </p:spPr>
      </p:pic>
      <p:pic>
        <p:nvPicPr>
          <p:cNvPr id="209" name="Google Shape;209;p29"/>
          <p:cNvPicPr preferRelativeResize="0"/>
          <p:nvPr/>
        </p:nvPicPr>
        <p:blipFill>
          <a:blip r:embed="rId4">
            <a:alphaModFix/>
          </a:blip>
          <a:stretch>
            <a:fillRect/>
          </a:stretch>
        </p:blipFill>
        <p:spPr>
          <a:xfrm>
            <a:off x="8560974" y="1672750"/>
            <a:ext cx="3572775" cy="2377525"/>
          </a:xfrm>
          <a:prstGeom prst="rect">
            <a:avLst/>
          </a:prstGeom>
          <a:noFill/>
          <a:ln>
            <a:noFill/>
          </a:ln>
        </p:spPr>
      </p:pic>
      <p:pic>
        <p:nvPicPr>
          <p:cNvPr id="210" name="Google Shape;210;p29"/>
          <p:cNvPicPr preferRelativeResize="0"/>
          <p:nvPr/>
        </p:nvPicPr>
        <p:blipFill rotWithShape="1">
          <a:blip r:embed="rId5">
            <a:alphaModFix/>
          </a:blip>
          <a:srcRect b="0" l="0" r="0" t="0"/>
          <a:stretch/>
        </p:blipFill>
        <p:spPr>
          <a:xfrm>
            <a:off x="375500" y="430225"/>
            <a:ext cx="1141950" cy="1077300"/>
          </a:xfrm>
          <a:prstGeom prst="rect">
            <a:avLst/>
          </a:prstGeom>
          <a:noFill/>
          <a:ln>
            <a:noFill/>
          </a:ln>
        </p:spPr>
      </p:pic>
      <p:sp>
        <p:nvSpPr>
          <p:cNvPr id="211" name="Google Shape;211;p29"/>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solidFill>
                  <a:srgbClr val="000000"/>
                </a:solidFill>
                <a:latin typeface="Times New Roman"/>
                <a:ea typeface="Times New Roman"/>
                <a:cs typeface="Times New Roman"/>
                <a:sym typeface="Times New Roman"/>
              </a:rPr>
              <a:t>Technologies</a:t>
            </a:r>
            <a:endParaRPr sz="4400">
              <a:solidFill>
                <a:srgbClr val="000000"/>
              </a:solidFill>
              <a:latin typeface="Times New Roman"/>
              <a:ea typeface="Times New Roman"/>
              <a:cs typeface="Times New Roman"/>
              <a:sym typeface="Times New Roman"/>
            </a:endParaRPr>
          </a:p>
        </p:txBody>
      </p:sp>
      <p:sp>
        <p:nvSpPr>
          <p:cNvPr id="212" name="Google Shape;212;p29"/>
          <p:cNvSpPr txBox="1"/>
          <p:nvPr/>
        </p:nvSpPr>
        <p:spPr>
          <a:xfrm>
            <a:off x="946550" y="1702500"/>
            <a:ext cx="8297400" cy="5059500"/>
          </a:xfrm>
          <a:prstGeom prst="rect">
            <a:avLst/>
          </a:prstGeom>
          <a:noFill/>
          <a:ln>
            <a:noFill/>
          </a:ln>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b="1" lang="en-IN" sz="2200">
                <a:solidFill>
                  <a:schemeClr val="dk1"/>
                </a:solidFill>
              </a:rPr>
              <a:t>Deep Learning Models</a:t>
            </a:r>
            <a:r>
              <a:rPr b="1" lang="en-IN" sz="2200">
                <a:solidFill>
                  <a:srgbClr val="000000"/>
                </a:solidFill>
              </a:rPr>
              <a:t> :</a:t>
            </a:r>
            <a:r>
              <a:rPr lang="en-IN" sz="2200">
                <a:solidFill>
                  <a:srgbClr val="000000"/>
                </a:solidFill>
              </a:rPr>
              <a:t> </a:t>
            </a:r>
            <a:endParaRPr b="1" sz="1100">
              <a:solidFill>
                <a:schemeClr val="dk1"/>
              </a:solidFill>
            </a:endParaRPr>
          </a:p>
          <a:p>
            <a:pPr indent="-342900" lvl="0" marL="457200" rtl="0" algn="l">
              <a:lnSpc>
                <a:spcPct val="115000"/>
              </a:lnSpc>
              <a:spcBef>
                <a:spcPts val="1000"/>
              </a:spcBef>
              <a:spcAft>
                <a:spcPts val="0"/>
              </a:spcAft>
              <a:buSzPts val="1800"/>
              <a:buChar char="●"/>
            </a:pPr>
            <a:r>
              <a:rPr b="1" lang="en-IN" sz="1800"/>
              <a:t>CNN (Convolutional Neural Networks)</a:t>
            </a:r>
            <a:r>
              <a:rPr lang="en-IN" sz="1800"/>
              <a:t> - Extracts features from handwritten text images.</a:t>
            </a:r>
            <a:endParaRPr sz="1800"/>
          </a:p>
          <a:p>
            <a:pPr indent="-342900" lvl="0" marL="457200" rtl="0" algn="l">
              <a:lnSpc>
                <a:spcPct val="115000"/>
              </a:lnSpc>
              <a:spcBef>
                <a:spcPts val="1000"/>
              </a:spcBef>
              <a:spcAft>
                <a:spcPts val="0"/>
              </a:spcAft>
              <a:buSzPts val="1800"/>
              <a:buChar char="●"/>
            </a:pPr>
            <a:r>
              <a:rPr b="1" lang="en-IN" sz="1800"/>
              <a:t>RNN / LSTM (Recurrent Neural Networks) </a:t>
            </a:r>
            <a:r>
              <a:rPr lang="en-IN" sz="1800"/>
              <a:t>- Recognizes sequential patterns in text.</a:t>
            </a:r>
            <a:endParaRPr b="1" sz="2200"/>
          </a:p>
          <a:p>
            <a:pPr indent="0" lvl="0" marL="0" rtl="0" algn="l">
              <a:lnSpc>
                <a:spcPct val="115000"/>
              </a:lnSpc>
              <a:spcBef>
                <a:spcPts val="1000"/>
              </a:spcBef>
              <a:spcAft>
                <a:spcPts val="0"/>
              </a:spcAft>
              <a:buNone/>
            </a:pPr>
            <a:r>
              <a:t/>
            </a:r>
            <a:endParaRPr/>
          </a:p>
          <a:p>
            <a:pPr indent="-368300" lvl="0" marL="457200" rtl="0" algn="l">
              <a:spcBef>
                <a:spcPts val="0"/>
              </a:spcBef>
              <a:spcAft>
                <a:spcPts val="0"/>
              </a:spcAft>
              <a:buSzPts val="2200"/>
              <a:buChar char="❖"/>
            </a:pPr>
            <a:r>
              <a:rPr b="1" lang="en-IN" sz="2200">
                <a:solidFill>
                  <a:schemeClr val="dk1"/>
                </a:solidFill>
              </a:rPr>
              <a:t>Development Environment &amp; Additional Tools</a:t>
            </a:r>
            <a:r>
              <a:rPr b="1" lang="en-IN" sz="2200">
                <a:solidFill>
                  <a:srgbClr val="000000"/>
                </a:solidFill>
              </a:rPr>
              <a:t> :</a:t>
            </a:r>
            <a:r>
              <a:rPr lang="en-IN" sz="2200">
                <a:solidFill>
                  <a:srgbClr val="000000"/>
                </a:solidFill>
              </a:rPr>
              <a:t> </a:t>
            </a:r>
            <a:endParaRPr/>
          </a:p>
          <a:p>
            <a:pPr indent="-342900" lvl="0" marL="457200" rtl="0" algn="l">
              <a:lnSpc>
                <a:spcPct val="115000"/>
              </a:lnSpc>
              <a:spcBef>
                <a:spcPts val="1000"/>
              </a:spcBef>
              <a:spcAft>
                <a:spcPts val="0"/>
              </a:spcAft>
              <a:buSzPts val="1800"/>
              <a:buChar char="●"/>
            </a:pPr>
            <a:r>
              <a:rPr b="1" lang="en-IN" sz="1800"/>
              <a:t>Jupyter Notebook/Google Collab</a:t>
            </a:r>
            <a:r>
              <a:rPr lang="en-IN" sz="1800"/>
              <a:t> - Used for writing, debugging, and executing code.</a:t>
            </a:r>
            <a:endParaRPr sz="1800"/>
          </a:p>
          <a:p>
            <a:pPr indent="-342900" lvl="0" marL="457200" rtl="0" algn="l">
              <a:lnSpc>
                <a:spcPct val="115000"/>
              </a:lnSpc>
              <a:spcBef>
                <a:spcPts val="1000"/>
              </a:spcBef>
              <a:spcAft>
                <a:spcPts val="0"/>
              </a:spcAft>
              <a:buSzPts val="1800"/>
              <a:buChar char="●"/>
            </a:pPr>
            <a:r>
              <a:rPr b="1" lang="en-IN" sz="1800"/>
              <a:t>NumPy &amp; Pandas </a:t>
            </a:r>
            <a:r>
              <a:rPr lang="en-IN" sz="1800"/>
              <a:t>- For numerical computations and dataset handling.</a:t>
            </a:r>
            <a:endParaRPr sz="1800"/>
          </a:p>
          <a:p>
            <a:pPr indent="-342900" lvl="0" marL="457200" rtl="0" algn="l">
              <a:lnSpc>
                <a:spcPct val="115000"/>
              </a:lnSpc>
              <a:spcBef>
                <a:spcPts val="1000"/>
              </a:spcBef>
              <a:spcAft>
                <a:spcPts val="0"/>
              </a:spcAft>
              <a:buSzPts val="1800"/>
              <a:buChar char="●"/>
            </a:pPr>
            <a:r>
              <a:rPr b="1" lang="en-IN" sz="1800"/>
              <a:t>Matplotlib &amp; Seaborn</a:t>
            </a:r>
            <a:r>
              <a:rPr lang="en-IN" sz="1800"/>
              <a:t> - To visualize model performance and data distribution</a:t>
            </a:r>
            <a:endParaRPr sz="2000">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pic>
        <p:nvPicPr>
          <p:cNvPr id="217" name="Google Shape;217;p30"/>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218" name="Google Shape;218;p30"/>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latin typeface="Times New Roman"/>
                <a:ea typeface="Times New Roman"/>
                <a:cs typeface="Times New Roman"/>
                <a:sym typeface="Times New Roman"/>
              </a:rPr>
              <a:t>Model Analysis</a:t>
            </a:r>
            <a:endParaRPr sz="4400">
              <a:solidFill>
                <a:srgbClr val="000000"/>
              </a:solidFill>
              <a:latin typeface="Times New Roman"/>
              <a:ea typeface="Times New Roman"/>
              <a:cs typeface="Times New Roman"/>
              <a:sym typeface="Times New Roman"/>
            </a:endParaRPr>
          </a:p>
        </p:txBody>
      </p:sp>
      <p:pic>
        <p:nvPicPr>
          <p:cNvPr id="219" name="Google Shape;219;p30" title="download3.png"/>
          <p:cNvPicPr preferRelativeResize="0"/>
          <p:nvPr/>
        </p:nvPicPr>
        <p:blipFill>
          <a:blip r:embed="rId4">
            <a:alphaModFix/>
          </a:blip>
          <a:stretch>
            <a:fillRect/>
          </a:stretch>
        </p:blipFill>
        <p:spPr>
          <a:xfrm>
            <a:off x="978699" y="1786916"/>
            <a:ext cx="10260751" cy="4792118"/>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pic>
        <p:nvPicPr>
          <p:cNvPr id="224" name="Google Shape;224;p31"/>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225" name="Google Shape;225;p31"/>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latin typeface="Times New Roman"/>
                <a:ea typeface="Times New Roman"/>
                <a:cs typeface="Times New Roman"/>
                <a:sym typeface="Times New Roman"/>
              </a:rPr>
              <a:t>Model Analysis</a:t>
            </a:r>
            <a:endParaRPr sz="4400">
              <a:solidFill>
                <a:srgbClr val="000000"/>
              </a:solidFill>
              <a:latin typeface="Times New Roman"/>
              <a:ea typeface="Times New Roman"/>
              <a:cs typeface="Times New Roman"/>
              <a:sym typeface="Times New Roman"/>
            </a:endParaRPr>
          </a:p>
        </p:txBody>
      </p:sp>
      <p:pic>
        <p:nvPicPr>
          <p:cNvPr id="226" name="Google Shape;226;p31" title="download2.png"/>
          <p:cNvPicPr preferRelativeResize="0"/>
          <p:nvPr/>
        </p:nvPicPr>
        <p:blipFill>
          <a:blip r:embed="rId4">
            <a:alphaModFix/>
          </a:blip>
          <a:stretch>
            <a:fillRect/>
          </a:stretch>
        </p:blipFill>
        <p:spPr>
          <a:xfrm>
            <a:off x="448525" y="1705075"/>
            <a:ext cx="11321100" cy="4762050"/>
          </a:xfrm>
          <a:prstGeom prst="rect">
            <a:avLst/>
          </a:prstGeom>
          <a:noFill/>
          <a:ln cap="flat" cmpd="sng" w="9525">
            <a:solidFill>
              <a:srgbClr val="CCCCCC"/>
            </a:solidFill>
            <a:prstDash val="dash"/>
            <a:round/>
            <a:headEnd len="sm" w="sm" type="none"/>
            <a:tailEnd len="sm" w="sm" type="none"/>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id="231" name="Google Shape;231;p32" title="Screenshot 2025-03-19 013655.png"/>
          <p:cNvPicPr preferRelativeResize="0"/>
          <p:nvPr/>
        </p:nvPicPr>
        <p:blipFill rotWithShape="1">
          <a:blip r:embed="rId3">
            <a:alphaModFix/>
          </a:blip>
          <a:srcRect b="3151" l="732" r="49441" t="3066"/>
          <a:stretch/>
        </p:blipFill>
        <p:spPr>
          <a:xfrm>
            <a:off x="474875" y="2291150"/>
            <a:ext cx="5621125" cy="3595700"/>
          </a:xfrm>
          <a:prstGeom prst="rect">
            <a:avLst/>
          </a:prstGeom>
          <a:noFill/>
          <a:ln cap="flat" cmpd="sng" w="9525">
            <a:solidFill>
              <a:schemeClr val="dk2"/>
            </a:solidFill>
            <a:prstDash val="solid"/>
            <a:round/>
            <a:headEnd len="sm" w="sm" type="none"/>
            <a:tailEnd len="sm" w="sm" type="none"/>
          </a:ln>
        </p:spPr>
      </p:pic>
      <p:pic>
        <p:nvPicPr>
          <p:cNvPr id="232" name="Google Shape;232;p32" title="Screenshot 2025-03-19 013655.png"/>
          <p:cNvPicPr preferRelativeResize="0"/>
          <p:nvPr/>
        </p:nvPicPr>
        <p:blipFill rotWithShape="1">
          <a:blip r:embed="rId3">
            <a:alphaModFix/>
          </a:blip>
          <a:srcRect b="2592" l="50313" r="695" t="4141"/>
          <a:stretch/>
        </p:blipFill>
        <p:spPr>
          <a:xfrm>
            <a:off x="6201725" y="2291150"/>
            <a:ext cx="5558226" cy="3595700"/>
          </a:xfrm>
          <a:prstGeom prst="rect">
            <a:avLst/>
          </a:prstGeom>
          <a:noFill/>
          <a:ln cap="flat" cmpd="sng" w="9525">
            <a:solidFill>
              <a:schemeClr val="dk2"/>
            </a:solidFill>
            <a:prstDash val="solid"/>
            <a:round/>
            <a:headEnd len="sm" w="sm" type="none"/>
            <a:tailEnd len="sm" w="sm" type="none"/>
          </a:ln>
        </p:spPr>
      </p:pic>
      <p:pic>
        <p:nvPicPr>
          <p:cNvPr id="233" name="Google Shape;233;p32"/>
          <p:cNvPicPr preferRelativeResize="0"/>
          <p:nvPr/>
        </p:nvPicPr>
        <p:blipFill rotWithShape="1">
          <a:blip r:embed="rId4">
            <a:alphaModFix/>
          </a:blip>
          <a:srcRect b="0" l="0" r="0" t="0"/>
          <a:stretch/>
        </p:blipFill>
        <p:spPr>
          <a:xfrm>
            <a:off x="375500" y="430225"/>
            <a:ext cx="1141950" cy="1077300"/>
          </a:xfrm>
          <a:prstGeom prst="rect">
            <a:avLst/>
          </a:prstGeom>
          <a:noFill/>
          <a:ln>
            <a:noFill/>
          </a:ln>
        </p:spPr>
      </p:pic>
      <p:sp>
        <p:nvSpPr>
          <p:cNvPr id="234" name="Google Shape;234;p32"/>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latin typeface="Times New Roman"/>
                <a:ea typeface="Times New Roman"/>
                <a:cs typeface="Times New Roman"/>
                <a:sym typeface="Times New Roman"/>
              </a:rPr>
              <a:t>Model Analysis</a:t>
            </a:r>
            <a:endParaRPr sz="4400">
              <a:solidFill>
                <a:srgbClr val="000000"/>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33"/>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240" name="Google Shape;240;p33"/>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latin typeface="Times New Roman"/>
                <a:ea typeface="Times New Roman"/>
                <a:cs typeface="Times New Roman"/>
                <a:sym typeface="Times New Roman"/>
              </a:rPr>
              <a:t>Model Analysis</a:t>
            </a:r>
            <a:endParaRPr sz="4400">
              <a:solidFill>
                <a:srgbClr val="000000"/>
              </a:solidFill>
              <a:latin typeface="Times New Roman"/>
              <a:ea typeface="Times New Roman"/>
              <a:cs typeface="Times New Roman"/>
              <a:sym typeface="Times New Roman"/>
            </a:endParaRPr>
          </a:p>
        </p:txBody>
      </p:sp>
      <p:pic>
        <p:nvPicPr>
          <p:cNvPr id="241" name="Google Shape;241;p33"/>
          <p:cNvPicPr preferRelativeResize="0"/>
          <p:nvPr/>
        </p:nvPicPr>
        <p:blipFill rotWithShape="1">
          <a:blip r:embed="rId4">
            <a:alphaModFix/>
          </a:blip>
          <a:srcRect b="12549" l="0" r="0" t="0"/>
          <a:stretch/>
        </p:blipFill>
        <p:spPr>
          <a:xfrm>
            <a:off x="1444475" y="1641575"/>
            <a:ext cx="9329200" cy="4848005"/>
          </a:xfrm>
          <a:prstGeom prst="rect">
            <a:avLst/>
          </a:prstGeom>
          <a:noFill/>
          <a:ln cap="flat" cmpd="sng" w="9525">
            <a:solidFill>
              <a:schemeClr val="dk2"/>
            </a:solidFill>
            <a:prstDash val="dot"/>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pic>
        <p:nvPicPr>
          <p:cNvPr id="246" name="Google Shape;246;p34"/>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247" name="Google Shape;247;p34"/>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latin typeface="Times New Roman"/>
                <a:ea typeface="Times New Roman"/>
                <a:cs typeface="Times New Roman"/>
                <a:sym typeface="Times New Roman"/>
              </a:rPr>
              <a:t>Output Screens</a:t>
            </a:r>
            <a:endParaRPr sz="4400">
              <a:solidFill>
                <a:srgbClr val="000000"/>
              </a:solidFill>
              <a:latin typeface="Times New Roman"/>
              <a:ea typeface="Times New Roman"/>
              <a:cs typeface="Times New Roman"/>
              <a:sym typeface="Times New Roman"/>
            </a:endParaRPr>
          </a:p>
        </p:txBody>
      </p:sp>
      <p:pic>
        <p:nvPicPr>
          <p:cNvPr id="248" name="Google Shape;248;p34" title="Screenshot 2025-03-19 013514.png"/>
          <p:cNvPicPr preferRelativeResize="0"/>
          <p:nvPr/>
        </p:nvPicPr>
        <p:blipFill rotWithShape="1">
          <a:blip r:embed="rId4">
            <a:alphaModFix/>
          </a:blip>
          <a:srcRect b="0" l="0" r="2200" t="882"/>
          <a:stretch/>
        </p:blipFill>
        <p:spPr>
          <a:xfrm>
            <a:off x="396138" y="1641575"/>
            <a:ext cx="11399726" cy="4868151"/>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35"/>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254" name="Google Shape;254;p35"/>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latin typeface="Times New Roman"/>
                <a:ea typeface="Times New Roman"/>
                <a:cs typeface="Times New Roman"/>
                <a:sym typeface="Times New Roman"/>
              </a:rPr>
              <a:t>Output Screens</a:t>
            </a:r>
            <a:endParaRPr sz="4400">
              <a:solidFill>
                <a:srgbClr val="000000"/>
              </a:solidFill>
              <a:latin typeface="Times New Roman"/>
              <a:ea typeface="Times New Roman"/>
              <a:cs typeface="Times New Roman"/>
              <a:sym typeface="Times New Roman"/>
            </a:endParaRPr>
          </a:p>
        </p:txBody>
      </p:sp>
      <p:pic>
        <p:nvPicPr>
          <p:cNvPr id="255" name="Google Shape;255;p35" title="Screenshot 2025-03-19 013423.png"/>
          <p:cNvPicPr preferRelativeResize="0"/>
          <p:nvPr/>
        </p:nvPicPr>
        <p:blipFill rotWithShape="1">
          <a:blip r:embed="rId4">
            <a:alphaModFix/>
          </a:blip>
          <a:srcRect b="0" l="358" r="2836" t="0"/>
          <a:stretch/>
        </p:blipFill>
        <p:spPr>
          <a:xfrm>
            <a:off x="374300" y="1641575"/>
            <a:ext cx="11469548" cy="4911624"/>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36"/>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261" name="Google Shape;261;p36"/>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latin typeface="Times New Roman"/>
                <a:ea typeface="Times New Roman"/>
                <a:cs typeface="Times New Roman"/>
                <a:sym typeface="Times New Roman"/>
              </a:rPr>
              <a:t>Output Screens</a:t>
            </a:r>
            <a:endParaRPr sz="4400">
              <a:solidFill>
                <a:srgbClr val="000000"/>
              </a:solidFill>
              <a:latin typeface="Times New Roman"/>
              <a:ea typeface="Times New Roman"/>
              <a:cs typeface="Times New Roman"/>
              <a:sym typeface="Times New Roman"/>
            </a:endParaRPr>
          </a:p>
        </p:txBody>
      </p:sp>
      <p:pic>
        <p:nvPicPr>
          <p:cNvPr id="262" name="Google Shape;262;p36" title="Screenshot 2025-03-19 013542.png"/>
          <p:cNvPicPr preferRelativeResize="0"/>
          <p:nvPr/>
        </p:nvPicPr>
        <p:blipFill rotWithShape="1">
          <a:blip r:embed="rId4">
            <a:alphaModFix/>
          </a:blip>
          <a:srcRect b="0" l="0" r="2133" t="823"/>
          <a:stretch/>
        </p:blipFill>
        <p:spPr>
          <a:xfrm>
            <a:off x="399275" y="1734175"/>
            <a:ext cx="11393449" cy="4871100"/>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pic>
        <p:nvPicPr>
          <p:cNvPr id="267" name="Google Shape;267;p37"/>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268" name="Google Shape;268;p37"/>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latin typeface="Times New Roman"/>
                <a:ea typeface="Times New Roman"/>
                <a:cs typeface="Times New Roman"/>
                <a:sym typeface="Times New Roman"/>
              </a:rPr>
              <a:t>Output Screens</a:t>
            </a:r>
            <a:endParaRPr sz="4400">
              <a:solidFill>
                <a:srgbClr val="000000"/>
              </a:solidFill>
              <a:latin typeface="Times New Roman"/>
              <a:ea typeface="Times New Roman"/>
              <a:cs typeface="Times New Roman"/>
              <a:sym typeface="Times New Roman"/>
            </a:endParaRPr>
          </a:p>
        </p:txBody>
      </p:sp>
      <p:pic>
        <p:nvPicPr>
          <p:cNvPr id="269" name="Google Shape;269;p37" title="Screenshot 2025-03-19 013610.png"/>
          <p:cNvPicPr preferRelativeResize="0"/>
          <p:nvPr/>
        </p:nvPicPr>
        <p:blipFill rotWithShape="1">
          <a:blip r:embed="rId4">
            <a:alphaModFix/>
          </a:blip>
          <a:srcRect b="0" l="368" r="2534" t="596"/>
          <a:stretch/>
        </p:blipFill>
        <p:spPr>
          <a:xfrm>
            <a:off x="458875" y="1736825"/>
            <a:ext cx="11343427" cy="4882251"/>
          </a:xfrm>
          <a:prstGeom prst="rect">
            <a:avLst/>
          </a:prstGeom>
          <a:noFill/>
          <a:ln cap="flat" cmpd="sng" w="19050">
            <a:solidFill>
              <a:schemeClr val="dk1"/>
            </a:solidFill>
            <a:prstDash val="solid"/>
            <a:round/>
            <a:headEnd len="sm" w="sm" type="none"/>
            <a:tailEnd len="sm" w="sm" type="none"/>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pic>
        <p:nvPicPr>
          <p:cNvPr id="274" name="Google Shape;274;p38"/>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275" name="Google Shape;275;p38"/>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latin typeface="Times New Roman"/>
                <a:ea typeface="Times New Roman"/>
                <a:cs typeface="Times New Roman"/>
                <a:sym typeface="Times New Roman"/>
              </a:rPr>
              <a:t>Conclusion</a:t>
            </a:r>
            <a:endParaRPr sz="4400">
              <a:solidFill>
                <a:srgbClr val="000000"/>
              </a:solidFill>
              <a:latin typeface="Times New Roman"/>
              <a:ea typeface="Times New Roman"/>
              <a:cs typeface="Times New Roman"/>
              <a:sym typeface="Times New Roman"/>
            </a:endParaRPr>
          </a:p>
        </p:txBody>
      </p:sp>
      <p:sp>
        <p:nvSpPr>
          <p:cNvPr id="276" name="Google Shape;276;p38"/>
          <p:cNvSpPr txBox="1"/>
          <p:nvPr/>
        </p:nvSpPr>
        <p:spPr>
          <a:xfrm>
            <a:off x="946550" y="1507525"/>
            <a:ext cx="9626100" cy="492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t/>
            </a:r>
            <a:endParaRPr b="1" sz="1300">
              <a:solidFill>
                <a:schemeClr val="dk1"/>
              </a:solidFill>
            </a:endParaRPr>
          </a:p>
          <a:p>
            <a:pPr indent="-355600" lvl="0" marL="457200" rtl="0" algn="just">
              <a:lnSpc>
                <a:spcPct val="115000"/>
              </a:lnSpc>
              <a:spcBef>
                <a:spcPts val="1200"/>
              </a:spcBef>
              <a:spcAft>
                <a:spcPts val="0"/>
              </a:spcAft>
              <a:buClr>
                <a:schemeClr val="dk1"/>
              </a:buClr>
              <a:buSzPts val="2000"/>
              <a:buChar char="●"/>
            </a:pPr>
            <a:r>
              <a:rPr lang="en-IN" sz="2000">
                <a:solidFill>
                  <a:schemeClr val="dk1"/>
                </a:solidFill>
              </a:rPr>
              <a:t>Handwritten Text Recognition (HTR) simplifies text digitization by converting handwritten content into editable digital text.</a:t>
            </a:r>
            <a:endParaRPr sz="2000">
              <a:solidFill>
                <a:schemeClr val="dk1"/>
              </a:solidFill>
            </a:endParaRPr>
          </a:p>
          <a:p>
            <a:pPr indent="-355600" lvl="0" marL="457200" rtl="0" algn="just">
              <a:lnSpc>
                <a:spcPct val="115000"/>
              </a:lnSpc>
              <a:spcBef>
                <a:spcPts val="1000"/>
              </a:spcBef>
              <a:spcAft>
                <a:spcPts val="0"/>
              </a:spcAft>
              <a:buClr>
                <a:schemeClr val="dk1"/>
              </a:buClr>
              <a:buSzPts val="2000"/>
              <a:buChar char="●"/>
            </a:pPr>
            <a:r>
              <a:rPr lang="en-IN" sz="2000">
                <a:solidFill>
                  <a:schemeClr val="dk1"/>
                </a:solidFill>
              </a:rPr>
              <a:t>Our project demonstrates the effectiveness of machine learning models in recognizing and processing handwritten text accurately.</a:t>
            </a:r>
            <a:endParaRPr sz="2000">
              <a:solidFill>
                <a:schemeClr val="dk1"/>
              </a:solidFill>
            </a:endParaRPr>
          </a:p>
          <a:p>
            <a:pPr indent="-355600" lvl="0" marL="457200" rtl="0" algn="just">
              <a:lnSpc>
                <a:spcPct val="115000"/>
              </a:lnSpc>
              <a:spcBef>
                <a:spcPts val="1000"/>
              </a:spcBef>
              <a:spcAft>
                <a:spcPts val="0"/>
              </a:spcAft>
              <a:buClr>
                <a:schemeClr val="dk1"/>
              </a:buClr>
              <a:buSzPts val="2000"/>
              <a:buChar char="●"/>
            </a:pPr>
            <a:r>
              <a:rPr lang="en-IN" sz="2000">
                <a:solidFill>
                  <a:schemeClr val="dk1"/>
                </a:solidFill>
              </a:rPr>
              <a:t>The implementation reduces manual effort, enhances accessibility, and can be extended to various real-world applications.</a:t>
            </a:r>
            <a:endParaRPr sz="2000">
              <a:solidFill>
                <a:schemeClr val="dk1"/>
              </a:solidFill>
            </a:endParaRPr>
          </a:p>
          <a:p>
            <a:pPr indent="-355600" lvl="0" marL="457200" rtl="0" algn="just">
              <a:lnSpc>
                <a:spcPct val="115000"/>
              </a:lnSpc>
              <a:spcBef>
                <a:spcPts val="1000"/>
              </a:spcBef>
              <a:spcAft>
                <a:spcPts val="0"/>
              </a:spcAft>
              <a:buClr>
                <a:schemeClr val="dk1"/>
              </a:buClr>
              <a:buSzPts val="2000"/>
              <a:buChar char="●"/>
            </a:pPr>
            <a:r>
              <a:rPr lang="en-IN" sz="2000">
                <a:solidFill>
                  <a:schemeClr val="dk1"/>
                </a:solidFill>
              </a:rPr>
              <a:t>Future enhancements include improving accuracy with advanced deep learning techniques and expanding support for multiple languages.</a:t>
            </a:r>
            <a:endParaRPr sz="2000">
              <a:solidFill>
                <a:schemeClr val="dk1"/>
              </a:solidFill>
            </a:endParaRPr>
          </a:p>
          <a:p>
            <a:pPr indent="-355600" lvl="0" marL="457200" rtl="0" algn="just">
              <a:lnSpc>
                <a:spcPct val="115000"/>
              </a:lnSpc>
              <a:spcBef>
                <a:spcPts val="1200"/>
              </a:spcBef>
              <a:spcAft>
                <a:spcPts val="0"/>
              </a:spcAft>
              <a:buClr>
                <a:schemeClr val="dk1"/>
              </a:buClr>
              <a:buSzPts val="2000"/>
              <a:buChar char="●"/>
            </a:pPr>
            <a:r>
              <a:rPr lang="en-IN" sz="2000">
                <a:solidFill>
                  <a:schemeClr val="dk1"/>
                </a:solidFill>
              </a:rPr>
              <a:t>Overall, this project contributes to bridging the gap between traditional and digital text processing.</a:t>
            </a:r>
            <a:endParaRPr sz="2000">
              <a:solidFill>
                <a:schemeClr val="dk1"/>
              </a:solidFill>
            </a:endParaRPr>
          </a:p>
          <a:p>
            <a:pPr indent="0" lvl="0" marL="0" rtl="0" algn="l">
              <a:spcBef>
                <a:spcPts val="100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39"/>
          <p:cNvPicPr preferRelativeResize="0"/>
          <p:nvPr/>
        </p:nvPicPr>
        <p:blipFill rotWithShape="1">
          <a:blip r:embed="rId3">
            <a:alphaModFix/>
          </a:blip>
          <a:srcRect b="0" l="0" r="0" t="0"/>
          <a:stretch/>
        </p:blipFill>
        <p:spPr>
          <a:xfrm>
            <a:off x="375500" y="430225"/>
            <a:ext cx="1141950" cy="1077300"/>
          </a:xfrm>
          <a:prstGeom prst="rect">
            <a:avLst/>
          </a:prstGeom>
          <a:noFill/>
          <a:ln>
            <a:noFill/>
          </a:ln>
        </p:spPr>
      </p:pic>
      <p:sp>
        <p:nvSpPr>
          <p:cNvPr id="282" name="Google Shape;282;p39"/>
          <p:cNvSpPr txBox="1"/>
          <p:nvPr/>
        </p:nvSpPr>
        <p:spPr>
          <a:xfrm>
            <a:off x="1645525" y="315875"/>
            <a:ext cx="89271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None/>
            </a:pPr>
            <a:r>
              <a:rPr lang="en-IN" sz="4400">
                <a:latin typeface="Times New Roman"/>
                <a:ea typeface="Times New Roman"/>
                <a:cs typeface="Times New Roman"/>
                <a:sym typeface="Times New Roman"/>
              </a:rPr>
              <a:t>Future Scope</a:t>
            </a:r>
            <a:endParaRPr sz="4400">
              <a:solidFill>
                <a:srgbClr val="000000"/>
              </a:solidFill>
              <a:latin typeface="Times New Roman"/>
              <a:ea typeface="Times New Roman"/>
              <a:cs typeface="Times New Roman"/>
              <a:sym typeface="Times New Roman"/>
            </a:endParaRPr>
          </a:p>
        </p:txBody>
      </p:sp>
      <p:sp>
        <p:nvSpPr>
          <p:cNvPr id="283" name="Google Shape;283;p39"/>
          <p:cNvSpPr txBox="1"/>
          <p:nvPr/>
        </p:nvSpPr>
        <p:spPr>
          <a:xfrm>
            <a:off x="946550" y="1829800"/>
            <a:ext cx="10069800" cy="4599600"/>
          </a:xfrm>
          <a:prstGeom prst="rect">
            <a:avLst/>
          </a:prstGeom>
          <a:noFill/>
          <a:ln>
            <a:noFill/>
          </a:ln>
        </p:spPr>
        <p:txBody>
          <a:bodyPr anchorCtr="0" anchor="t" bIns="91425" lIns="91425" spcFirstLastPara="1" rIns="91425" wrap="square" tIns="91425">
            <a:noAutofit/>
          </a:bodyPr>
          <a:lstStyle/>
          <a:p>
            <a:pPr indent="-355600" lvl="0" marL="457200" rtl="0" algn="l">
              <a:lnSpc>
                <a:spcPct val="115000"/>
              </a:lnSpc>
              <a:spcBef>
                <a:spcPts val="1200"/>
              </a:spcBef>
              <a:spcAft>
                <a:spcPts val="0"/>
              </a:spcAft>
              <a:buClr>
                <a:schemeClr val="dk1"/>
              </a:buClr>
              <a:buSzPts val="2000"/>
              <a:buChar char="●"/>
            </a:pPr>
            <a:r>
              <a:rPr b="1" lang="en-IN" sz="2000">
                <a:solidFill>
                  <a:schemeClr val="dk1"/>
                </a:solidFill>
              </a:rPr>
              <a:t>Enhanced Accuracy:</a:t>
            </a:r>
            <a:r>
              <a:rPr lang="en-IN" sz="2000">
                <a:solidFill>
                  <a:schemeClr val="dk1"/>
                </a:solidFill>
              </a:rPr>
              <a:t> Improve recognition accuracy using advanced deep learning models like Transformer-based architectures.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IN" sz="2000">
                <a:solidFill>
                  <a:schemeClr val="dk1"/>
                </a:solidFill>
              </a:rPr>
              <a:t>Multi-Language Support:</a:t>
            </a:r>
            <a:r>
              <a:rPr lang="en-IN" sz="2000">
                <a:solidFill>
                  <a:schemeClr val="dk1"/>
                </a:solidFill>
              </a:rPr>
              <a:t> Extend the system to recognize handwritten text in multiple languages.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IN" sz="2000">
                <a:solidFill>
                  <a:schemeClr val="dk1"/>
                </a:solidFill>
              </a:rPr>
              <a:t>Real-Time Processing:</a:t>
            </a:r>
            <a:r>
              <a:rPr lang="en-IN" sz="2000">
                <a:solidFill>
                  <a:schemeClr val="dk1"/>
                </a:solidFill>
              </a:rPr>
              <a:t> Optimize the model for faster and real-time text recognition.</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IN" sz="2000">
                <a:solidFill>
                  <a:schemeClr val="dk1"/>
                </a:solidFill>
              </a:rPr>
              <a:t>Mobile &amp; Web Integration:</a:t>
            </a:r>
            <a:r>
              <a:rPr lang="en-IN" sz="2000">
                <a:solidFill>
                  <a:schemeClr val="dk1"/>
                </a:solidFill>
              </a:rPr>
              <a:t> Develop a mobile or web-based application for easy accessibility.</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IN" sz="2000">
                <a:solidFill>
                  <a:schemeClr val="dk1"/>
                </a:solidFill>
              </a:rPr>
              <a:t>Dataset Expansion:</a:t>
            </a:r>
            <a:r>
              <a:rPr lang="en-IN" sz="2000">
                <a:solidFill>
                  <a:schemeClr val="dk1"/>
                </a:solidFill>
              </a:rPr>
              <a:t> Train on larger and diverse datasets to handle different handwriting styles.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b="1" lang="en-IN" sz="2000">
                <a:solidFill>
                  <a:schemeClr val="dk1"/>
                </a:solidFill>
              </a:rPr>
              <a:t>Error Correction &amp; Context Awareness:</a:t>
            </a:r>
            <a:r>
              <a:rPr lang="en-IN" sz="2000">
                <a:solidFill>
                  <a:schemeClr val="dk1"/>
                </a:solidFill>
              </a:rPr>
              <a:t> Implement NLP-based post-processing to improve text accuracy.</a:t>
            </a:r>
            <a:endParaRPr sz="2000">
              <a:solidFill>
                <a:schemeClr val="dk1"/>
              </a:solidFill>
            </a:endParaRPr>
          </a:p>
          <a:p>
            <a:pPr indent="0" lvl="0" marL="0" rtl="0" algn="l">
              <a:spcBef>
                <a:spcPts val="1200"/>
              </a:spcBef>
              <a:spcAft>
                <a:spcPts val="0"/>
              </a:spcAft>
              <a:buNone/>
            </a:pPr>
            <a:r>
              <a:t/>
            </a:r>
            <a:endParaRPr b="1" sz="13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0"/>
          <p:cNvSpPr txBox="1"/>
          <p:nvPr/>
        </p:nvSpPr>
        <p:spPr>
          <a:xfrm>
            <a:off x="3336750" y="2169975"/>
            <a:ext cx="5518500" cy="1660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9600"/>
              <a:buFont typeface="Arial"/>
              <a:buNone/>
            </a:pPr>
            <a:r>
              <a:rPr b="0" i="0" lang="en-IN" sz="9600" u="none" cap="none" strike="noStrike">
                <a:solidFill>
                  <a:schemeClr val="dk1"/>
                </a:solidFill>
                <a:latin typeface="Times New Roman"/>
                <a:ea typeface="Times New Roman"/>
                <a:cs typeface="Times New Roman"/>
                <a:sym typeface="Times New Roman"/>
              </a:rPr>
              <a:t>Thank you</a:t>
            </a:r>
            <a:endParaRPr b="0" i="0" sz="96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